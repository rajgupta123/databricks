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2335" autoAdjust="0"/>
  </p:normalViewPr>
  <p:slideViewPr>
    <p:cSldViewPr snapToGrid="0" snapToObjects="1">
      <p:cViewPr varScale="1">
        <p:scale>
          <a:sx n="36" d="100"/>
          <a:sy n="36" d="100"/>
        </p:scale>
        <p:origin x="203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ev Kumar Gupta" userId="S::rajeev.gupta1@evalueserve.com::7e005507-6490-4070-a5a5-0bd490960cc0" providerId="AD" clId="Web-{31238220-2BB5-F062-607C-2479037E033F}"/>
    <pc:docChg chg="mod modMainMaster">
      <pc:chgData name="Rajeev Kumar Gupta" userId="S::rajeev.gupta1@evalueserve.com::7e005507-6490-4070-a5a5-0bd490960cc0" providerId="AD" clId="Web-{31238220-2BB5-F062-607C-2479037E033F}" dt="2026-10-21T17:41:24.397" v="1" actId="33475"/>
      <pc:docMkLst>
        <pc:docMk/>
      </pc:docMkLst>
      <pc:sldMasterChg chg="addSp">
        <pc:chgData name="Rajeev Kumar Gupta" userId="S::rajeev.gupta1@evalueserve.com::7e005507-6490-4070-a5a5-0bd490960cc0" providerId="AD" clId="Web-{31238220-2BB5-F062-607C-2479037E033F}" dt="2026-10-21T17:41:24.397" v="0" actId="33475"/>
        <pc:sldMasterMkLst>
          <pc:docMk/>
          <pc:sldMasterMk cId="0" sldId="2147483648"/>
        </pc:sldMasterMkLst>
        <pc:spChg chg="add">
          <ac:chgData name="Rajeev Kumar Gupta" userId="S::rajeev.gupta1@evalueserve.com::7e005507-6490-4070-a5a5-0bd490960cc0" providerId="AD" clId="Web-{31238220-2BB5-F062-607C-2479037E033F}" dt="2026-10-21T17:41:24.397" v="0" actId="33475"/>
          <ac:spMkLst>
            <pc:docMk/>
            <pc:sldMasterMk cId="0" sldId="2147483648"/>
            <ac:spMk id="3" creationId="{C96D9E7B-CE3F-61AE-A7B8-0EC24C985815}"/>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DATABRICKS.</a:t>
            </a:r>
          </a:p>
          <a:p>
            <a:r>
              <a:rPr lang="en-US" dirty="0"/>
              <a:t> </a:t>
            </a:r>
          </a:p>
          <a:p>
            <a:r>
              <a:rPr lang="en-US" dirty="0"/>
              <a:t>Explanation and trainer script</a:t>
            </a:r>
          </a:p>
          <a:p>
            <a:r>
              <a:rPr lang="en-US" dirty="0"/>
              <a:t>Introduce Databricks as a unified platform for data engineering, analytics, data science, and AI. Apache Spark is the distributed processing engine underneath many workloads; Databricks adds a managed workspace, easier compute administration, collaboration, governance, optimized runtimes, and Delta Lake. Explain distributed processing as dividing a large job across multiple machines. Use a retail example: engineers ingest sales files, analysts query curated tables, and data scientists train a demand model in the same governed environment. The sports-car analogy on the slide is useful: Spark is the engine; Databricks packages the engine with controls, safety, and services. Trainer clarification: Databricks is more than managed Spark; current capabilities include SQL warehouses, Unity Catalog, </a:t>
            </a:r>
            <a:r>
              <a:rPr lang="en-US" dirty="0" err="1"/>
              <a:t>Lakeflow</a:t>
            </a:r>
            <a:r>
              <a:rPr lang="en-US" dirty="0"/>
              <a:t>, model tooling, and serverless options. Transition: now compare operating Spark by itself with using the Databricks platform.</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SPARK ALONE VS DATABRICKS.</a:t>
            </a:r>
          </a:p>
          <a:p>
            <a:r>
              <a:rPr lang="en-US" dirty="0"/>
              <a:t> </a:t>
            </a:r>
          </a:p>
          <a:p>
            <a:r>
              <a:rPr lang="en-US" dirty="0"/>
              <a:t>Explanation and trainer script</a:t>
            </a:r>
          </a:p>
          <a:p>
            <a:r>
              <a:rPr lang="en-US" dirty="0"/>
              <a:t>Walk through the comparison as an operating-model decision. With standalone Spark, teams assemble cluster management, storage integrations, security, scheduling, monitoring, and collaboration. Databricks provides managed compute, autoscaling, notebooks, Jobs, Unity Catalog, Delta Lake, </a:t>
            </a:r>
            <a:r>
              <a:rPr lang="en-US" dirty="0" err="1"/>
              <a:t>MLflow</a:t>
            </a:r>
            <a:r>
              <a:rPr lang="en-US" dirty="0"/>
              <a:t>, connectors, and performance features such as Photon. ACID means atomicity, consistency, isolation, and durability, which make table updates reliable. Give an example: a daily sales pipeline can </a:t>
            </a:r>
            <a:r>
              <a:rPr lang="en-US" dirty="0" err="1"/>
              <a:t>autoscale</a:t>
            </a:r>
            <a:r>
              <a:rPr lang="en-US" dirty="0"/>
              <a:t> during the load, write reliable Delta tables, retry failed tasks, and pause compute afterward. Emphasize that Spark remains powerful, but Databricks reduces surrounding engineering and operational work. Transition: the next slide shows the architecture that unifies lake flexibility with warehouse reliability.</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the Databricks Lakehouse?.</a:t>
            </a:r>
          </a:p>
          <a:p>
            <a:r>
              <a:rPr lang="en-US" dirty="0"/>
              <a:t> </a:t>
            </a:r>
          </a:p>
          <a:p>
            <a:r>
              <a:rPr lang="en-US" dirty="0"/>
              <a:t>Explanation and trainer script</a:t>
            </a:r>
          </a:p>
          <a:p>
            <a:r>
              <a:rPr lang="en-US" dirty="0"/>
              <a:t>Define the </a:t>
            </a:r>
            <a:r>
              <a:rPr lang="en-US" dirty="0" err="1"/>
              <a:t>lakehouse</a:t>
            </a:r>
            <a:r>
              <a:rPr lang="en-US" dirty="0"/>
              <a:t> as an architecture combining low-cost, flexible object storage with warehouse-style reliability, governance, and performance. A data lake accepts structured, semi-structured, and unstructured data; a warehouse is optimized for governed analytics. Delta Lake adds a transaction log and table semantics over cloud files. Explain the problems: duplicate copies between lakes and warehouses, brittle ETL, inconsistent data, and fragmented governance. Example: a retailer keeps raw clickstream and sales files in cloud storage, cleans them into Delta tables, and serves BI dashboards from the same platform. Trainer clarification: a </a:t>
            </a:r>
            <a:r>
              <a:rPr lang="en-US" dirty="0" err="1"/>
              <a:t>lakehouse</a:t>
            </a:r>
            <a:r>
              <a:rPr lang="en-US" dirty="0"/>
              <a:t> does not eliminate data modeling or quality work; it provides a unified foundation for those practices. Transition: next, examine how storage, Delta, compute, and governance work together internally.</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How It Works Internally.</a:t>
            </a:r>
          </a:p>
          <a:p>
            <a:r>
              <a:rPr lang="en-US" dirty="0"/>
              <a:t> </a:t>
            </a:r>
          </a:p>
          <a:p>
            <a:r>
              <a:rPr lang="en-US" dirty="0"/>
              <a:t>Explanation and trainer script</a:t>
            </a:r>
          </a:p>
          <a:p>
            <a:r>
              <a:rPr lang="en-US" dirty="0"/>
              <a:t>Explain the layers from bottom to top. Data resides in cloud object storage in open formats such as Parquet. Delta Lake adds the _</a:t>
            </a:r>
            <a:r>
              <a:rPr lang="en-US" dirty="0" err="1"/>
              <a:t>delta_log</a:t>
            </a:r>
            <a:r>
              <a:rPr lang="en-US" dirty="0"/>
              <a:t>, recording committed changes and enabling reliable updates, schema controls, and time travel. Compute engines such as Spark SQL and Photon read the files and transaction log for batch, streaming, ML, and BI workloads. Unity Catalog supplies centralized permissions, discovery, lineage, and auditing. Example: when an order is corrected, Delta records a new table version rather than editing files blindly; users can query the current version or inspect history. Trainer clarification: Photon is a vectorized execution engine for supported workloads, not a separate storage format. Transition: because shared data needs consistent control, the next slide introduces Unity Catalog.</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Unity Catalog?.</a:t>
            </a:r>
          </a:p>
          <a:p>
            <a:r>
              <a:rPr lang="en-US" dirty="0"/>
              <a:t> </a:t>
            </a:r>
          </a:p>
          <a:p>
            <a:r>
              <a:rPr lang="en-US" dirty="0"/>
              <a:t>Explanation and trainer script</a:t>
            </a:r>
          </a:p>
          <a:p>
            <a:r>
              <a:rPr lang="en-US" dirty="0"/>
              <a:t>Present Unity Catalog as the governance layer for data and AI assets across Databricks workspaces. It organizes securable objects through the three-level namespace </a:t>
            </a:r>
            <a:r>
              <a:rPr lang="en-US" dirty="0" err="1"/>
              <a:t>catalog.schema.object</a:t>
            </a:r>
            <a:r>
              <a:rPr lang="en-US" dirty="0"/>
              <a:t> and centralizes permissions, ownership, discovery, lineage, and auditing. Explain that tables, volumes, functions, models, and other governed assets can be managed consistently. Example: the finance catalog can allow analysts to read aggregated revenue while restricting detailed customer data to an approved group. This avoids each workspace maintaining unrelated permissions and metadata. Trainer clarification: exact supported asset types and features depend on cloud, region, and workspace configuration. Transition: next, compare the fragmented environment without Unity Catalog to centralized governance with it.</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Without Unity Catalog vs With Unity Catalog.</a:t>
            </a:r>
          </a:p>
          <a:p>
            <a:r>
              <a:rPr lang="en-US" dirty="0"/>
              <a:t> </a:t>
            </a:r>
          </a:p>
          <a:p>
            <a:r>
              <a:rPr lang="en-US" dirty="0"/>
              <a:t>Explanation and trainer script</a:t>
            </a:r>
          </a:p>
          <a:p>
            <a:r>
              <a:rPr lang="en-US" dirty="0"/>
              <a:t>Use this diagram to contrast local governance with centralized governance. Without Unity Catalog, each workspace can have separate </a:t>
            </a:r>
            <a:r>
              <a:rPr lang="en-US" dirty="0" err="1"/>
              <a:t>metastores</a:t>
            </a:r>
            <a:r>
              <a:rPr lang="en-US" dirty="0"/>
              <a:t>, permissions, and administrative processes, making consistent controls difficult. With Unity Catalog, workspaces can attach to a shared </a:t>
            </a:r>
            <a:r>
              <a:rPr lang="en-US" dirty="0" err="1"/>
              <a:t>metastore</a:t>
            </a:r>
            <a:r>
              <a:rPr lang="en-US" dirty="0"/>
              <a:t> so identities, privileges, metadata, and audit practices are applied consistently. Compute still performs processing, while the catalog governs access to data objects. Example: two workspaces for engineering and analytics can reference the same governed sales table without creating separate copies or permission models. Key point: Unity Catalog separates centralized governance from workspace-level collaboration and compute. Transition: the next slide applies this governance model to managed and external tables.</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MANAGED VS EXTERNAL Table in Databricks?.</a:t>
            </a:r>
          </a:p>
          <a:p>
            <a:r>
              <a:rPr lang="en-US" dirty="0"/>
              <a:t> </a:t>
            </a:r>
          </a:p>
          <a:p>
            <a:r>
              <a:rPr lang="en-US" dirty="0"/>
              <a:t>Explanation and trainer script</a:t>
            </a:r>
          </a:p>
          <a:p>
            <a:r>
              <a:rPr lang="en-US" dirty="0"/>
              <a:t>Explain that both table types have metadata registered in a </a:t>
            </a:r>
            <a:r>
              <a:rPr lang="en-US" dirty="0" err="1"/>
              <a:t>metastore</a:t>
            </a:r>
            <a:r>
              <a:rPr lang="en-US" dirty="0"/>
              <a:t>, but storage ownership differs. For a managed table, Unity Catalog manages the data location and lifecycle; creation normally omits LOCATION. For an external table, the definition points to an approved cloud path and the organization manages the files independently. Example: use a managed table for a new curated sales dataset; use an external table when an existing ADLS folder must be shared with another engine. Trainer clarification: for Unity Catalog managed tables, DROP removes the table and marks underlying data for deletion, with managed-table recovery features subject to retention and configuration. Dropping an external table removes registration but leaves files. Databricks currently recommends managed tables for most new workloads. Transition: the next slide covers the governed file counterpart, Unity Catalog volumes.</a:t>
            </a:r>
          </a:p>
          <a:p>
            <a:r>
              <a:rPr lang="en-US" dirty="0"/>
              <a:t> </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Volumes IN DATABRICKS.</a:t>
            </a:r>
          </a:p>
          <a:p>
            <a:r>
              <a:rPr lang="en-US" dirty="0"/>
              <a:t> </a:t>
            </a:r>
          </a:p>
          <a:p>
            <a:r>
              <a:rPr lang="en-US" dirty="0"/>
              <a:t>Explanation and trainer script</a:t>
            </a:r>
          </a:p>
          <a:p>
            <a:r>
              <a:rPr lang="en-US" dirty="0"/>
              <a:t>Define a volume as a Unity Catalog object for governing non-tabular files. A table represents rows and columns; a volume represents a governed directory addressed through /Volumes/catalog/schema/volume/. Managed volumes use Unity Catalog-managed storage lifecycle, while external volumes point to externally controlled storage. Example: place PDFs, images, raw JSON files, Python wheels, or model artifacts in a volume, then grant users access without sharing storage keys. Explain the enterprise problems shown: scattered folders, broad credentials, poor discovery, and limited auditing. Trainer clarification: volumes are for file access; tabular datasets intended for SQL analytics should normally be registered as tables. Transition: next, see how namespace, permissions, and auditing solve those file-governance problems.</a:t>
            </a:r>
          </a:p>
          <a:p>
            <a:r>
              <a:rPr lang="en-US" dirty="0"/>
              <a:t> </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How Unity Catalog Volumes Fix These Problems.</a:t>
            </a:r>
          </a:p>
          <a:p>
            <a:r>
              <a:rPr lang="en-US" dirty="0"/>
              <a:t> </a:t>
            </a:r>
          </a:p>
          <a:p>
            <a:r>
              <a:rPr lang="en-US" dirty="0"/>
              <a:t>Explanation and trainer script</a:t>
            </a:r>
          </a:p>
          <a:p>
            <a:r>
              <a:rPr lang="en-US" dirty="0"/>
              <a:t>Explain the shared namespace: tables and volumes are organized under catalogs and schemas, making assets easier to discover and govern. Permissions are assigned on the volume instead of distributing storage credentials. Metadata such as owner, comments, and tags improves accountability, while audit logs help investigate access. Use the retail example: </a:t>
            </a:r>
            <a:r>
              <a:rPr lang="en-US" dirty="0" err="1"/>
              <a:t>retail.sales.orders</a:t>
            </a:r>
            <a:r>
              <a:rPr lang="en-US" dirty="0"/>
              <a:t> is a table, while </a:t>
            </a:r>
            <a:r>
              <a:rPr lang="en-US" dirty="0" err="1"/>
              <a:t>retail.sales.raw_files</a:t>
            </a:r>
            <a:r>
              <a:rPr lang="en-US" dirty="0"/>
              <a:t> is a volume holding incoming files. Grant analysts read access and engineers read/write access according to duties. Trainer clarification: current privilege names can vary by operation and platform version; administrators should follow current Unity Catalog privilege documentation. Transition: the next slide extends governed access beyond local files and tables through Lakehouse Federation.</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Lakehouse Federation in Databricks?.</a:t>
            </a:r>
          </a:p>
          <a:p>
            <a:r>
              <a:rPr lang="en-US" dirty="0"/>
              <a:t> </a:t>
            </a:r>
          </a:p>
          <a:p>
            <a:r>
              <a:rPr lang="en-US" dirty="0"/>
              <a:t>Explanation and trainer script</a:t>
            </a:r>
          </a:p>
          <a:p>
            <a:r>
              <a:rPr lang="en-US" dirty="0"/>
              <a:t>Define Lakehouse Federation as governed, read-only querying of supported external systems through Unity Catalog foreign connections and foreign catalogs. Databricks can push parts of a query to the remote database, so teams can explore data without first copying everything into Delta. Example: join a managed customer segmentation table with current PostgreSQL orders for an exploratory report. Benefits include faster access, reduced duplication, and centralized permissions. Trainer clarification: federation does not mean every workload should stay remote. Performance, source load, latency, cost, write requirements, and repeated use may justify ingestion into Delta. Current federation is generally read-only. Transition: next, move from accessing data to serving SQL analytics with Databricks SQL.</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Databricks SQL?.</a:t>
            </a:r>
          </a:p>
          <a:p>
            <a:r>
              <a:rPr lang="en-US" dirty="0"/>
              <a:t> </a:t>
            </a:r>
          </a:p>
          <a:p>
            <a:r>
              <a:rPr lang="en-US" dirty="0"/>
              <a:t>Explanation and trainer script</a:t>
            </a:r>
          </a:p>
          <a:p>
            <a:r>
              <a:rPr lang="en-US" dirty="0"/>
              <a:t>Describe Databricks SQL as the SQL-focused experience for querying governed data, creating visualizations and dashboards, and connecting BI tools. SQL warehouses provide compute optimized for interactive and concurrent SQL workloads, with capabilities such as autoscaling, auto-stop, caching, and Photon where supported. Contrast this with notebooks, which are better suited to engineering, data science, and mixed-language workflows. Example: finance analysts query a gold revenue table and publish a dashboard without managing a general-purpose Spark cluster. Unity Catalog applies consistent security and lineage. Trainer clarification: notebooks can also run SQL, and SQL warehouses can support many advanced queries; the distinction is user experience and workload optimization rather than a hard technical boundary. Transition: next, summarize the business value.</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Advantages &amp; Business Value.</a:t>
            </a:r>
          </a:p>
          <a:p>
            <a:r>
              <a:rPr lang="en-US" dirty="0"/>
              <a:t> </a:t>
            </a:r>
          </a:p>
          <a:p>
            <a:r>
              <a:rPr lang="en-US" dirty="0"/>
              <a:t>Explanation and trainer script</a:t>
            </a:r>
          </a:p>
          <a:p>
            <a:r>
              <a:rPr lang="en-US" dirty="0"/>
              <a:t>Translate features into outcomes. Analysts gain a familiar SQL interface, faster self-service, dashboards, alerts, and query history. The business gains governed access to shared data, fewer unnecessary copies, elastic compute, and faster decisions. Example: instead of emailing weekly spreadsheets, sales leaders view a governed dashboard refreshed from curated Delta tables. Explain that “one source of truth” requires agreed definitions, ownership, and quality controls, not technology alone. Trainer clarification: Databricks may reduce the need for separate platforms in some architectures, but cost and platform decisions depend on existing investments and requirements. Transition: the next slide shows how Databricks Jobs operationalize notebooks, queries, and pipelines.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are Lakehouse Jobs in Databricks?.</a:t>
            </a:r>
          </a:p>
          <a:p>
            <a:r>
              <a:rPr lang="en-US" dirty="0"/>
              <a:t> </a:t>
            </a:r>
          </a:p>
          <a:p>
            <a:r>
              <a:rPr lang="en-US" dirty="0"/>
              <a:t>Explanation and trainer script</a:t>
            </a:r>
          </a:p>
          <a:p>
            <a:r>
              <a:rPr lang="en-US" dirty="0"/>
              <a:t>Introduce Jobs, now commonly presented as </a:t>
            </a:r>
            <a:r>
              <a:rPr lang="en-US" dirty="0" err="1"/>
              <a:t>Lakeflow</a:t>
            </a:r>
            <a:r>
              <a:rPr lang="en-US" dirty="0"/>
              <a:t> Jobs, as orchestration for scheduled, triggered, and multi-task workflows. A task can run a notebook, SQL statement, pipeline, Python code, or another supported workload. Jobs add dependencies, parameters, retries, notifications, monitoring, and controlled compute. Example: every morning, ingest sales files, run quality checks, update gold tables, and refresh downstream outputs. If validation fails, retries and alerts help operators respond without manually opening notebooks. Trainer clarification: a job orchestrates work; it does not by itself define data quality or transformation logic. Transition: next, apply the platform concepts in a retail medallion project.</a:t>
            </a:r>
          </a:p>
          <a:p>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Retail Sales Analytics Project - Databricks.</a:t>
            </a:r>
          </a:p>
          <a:p>
            <a:r>
              <a:rPr lang="en-US" dirty="0"/>
              <a:t> </a:t>
            </a:r>
          </a:p>
          <a:p>
            <a:r>
              <a:rPr lang="en-US" dirty="0"/>
              <a:t>Explanation and trainer script</a:t>
            </a:r>
          </a:p>
          <a:p>
            <a:r>
              <a:rPr lang="en-US" dirty="0"/>
              <a:t>Frame the project around a business problem: fragmented sales, customer, and product data prevents trusted reporting. The medallion pattern progressively improves data quality. Bronze preserves ingested data, Silver cleans and standardizes it, and Gold produces business-ready tables and metrics. Explain key measures such as revenue, average order value, return rate, repeat customer rate, and month-over-month growth. Example: standardize dates and prices in Silver, then aggregate monthly revenue by product category in Gold for a Databricks SQL dashboard. Trainer clarification: Bronze, Silver, and Gold are design conventions, not mandatory product objects; teams should define quality and ownership at each layer. Transition: the next slide visualizes the end-to-end data flow.</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Retail Sales Analytics - Data Flow.</a:t>
            </a:r>
          </a:p>
          <a:p>
            <a:r>
              <a:rPr lang="en-US" dirty="0"/>
              <a:t> </a:t>
            </a:r>
          </a:p>
          <a:p>
            <a:r>
              <a:rPr lang="en-US" dirty="0"/>
              <a:t>Explanation and trainer script</a:t>
            </a:r>
          </a:p>
          <a:p>
            <a:r>
              <a:rPr lang="en-US" dirty="0"/>
              <a:t>Walk from source to consumption. Sales, product, and customer data arrive as CSV or JSON. The engineering process combines them into a unified dataset, applies cleaning and business rules, and publishes curated results for dashboards. Call out join keys such as </a:t>
            </a:r>
            <a:r>
              <a:rPr lang="en-US" dirty="0" err="1"/>
              <a:t>customer_id</a:t>
            </a:r>
            <a:r>
              <a:rPr lang="en-US" dirty="0"/>
              <a:t> and </a:t>
            </a:r>
            <a:r>
              <a:rPr lang="en-US" dirty="0" err="1"/>
              <a:t>product_id</a:t>
            </a:r>
            <a:r>
              <a:rPr lang="en-US" dirty="0"/>
              <a:t>, plus checks for duplicates, missing values, invalid dates, and negative quantities. Example: a sales record joins to product category and customer segment before revenue is aggregated by month. The value of the diagram is traceability: each stage has a clear input, transformation, and output. Transition: after batch-oriented analytics, the next slide introduces continuously arriving data with Spark Structured Streaming.</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SPARK STREAMING.</a:t>
            </a:r>
          </a:p>
          <a:p>
            <a:r>
              <a:rPr lang="en-US" dirty="0"/>
              <a:t> </a:t>
            </a:r>
          </a:p>
          <a:p>
            <a:r>
              <a:rPr lang="en-US" dirty="0"/>
              <a:t>Explanation and trainer script</a:t>
            </a:r>
          </a:p>
          <a:p>
            <a:r>
              <a:rPr lang="en-US" dirty="0"/>
              <a:t>Define Spark Structured Streaming as the Spark API for processing unbounded data incrementally using </a:t>
            </a:r>
            <a:r>
              <a:rPr lang="en-US" dirty="0" err="1"/>
              <a:t>DataFrame</a:t>
            </a:r>
            <a:r>
              <a:rPr lang="en-US" dirty="0"/>
              <a:t>-style operations. Sources can include Kafka, cloud files, logs, and sensors; sinks can include Delta tables and external systems. Micro-batches process newly arrived records at short intervals, while trigger choices determine latency and cost. Compare batch, which processes a bounded snapshot, with streaming, which continuously processes arrivals. Example: an e-commerce pipeline updates fraud indicators and live sales totals as transactions arrive. Trainer clarification: “real time” usually means near-real-time and depends on trigger, source, transformations, and destination. Transition: next, recap the source-process-sink model and introduce Auto Loader for scalable file ingestion.</a:t>
            </a:r>
          </a:p>
          <a:p>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Spark Streaming Recap.</a:t>
            </a:r>
          </a:p>
          <a:p>
            <a:r>
              <a:rPr lang="en-US" dirty="0"/>
              <a:t> </a:t>
            </a:r>
          </a:p>
          <a:p>
            <a:r>
              <a:rPr lang="en-US" dirty="0"/>
              <a:t>Explanation and trainer script</a:t>
            </a:r>
          </a:p>
          <a:p>
            <a:r>
              <a:rPr lang="en-US" dirty="0"/>
              <a:t>Reinforce the streaming model: a source produces data, Spark applies incremental transformations, and a sink stores results. A checkpoint records progress and state so processing can resume after failure. Direct file streaming can work, but discovering huge numbers of files, handling schema drift, and tracking arrivals can become operationally difficult. Auto Loader provides the </a:t>
            </a:r>
            <a:r>
              <a:rPr lang="en-US" dirty="0" err="1"/>
              <a:t>cloudFiles</a:t>
            </a:r>
            <a:r>
              <a:rPr lang="en-US" dirty="0"/>
              <a:t> source optimized for incremental cloud-file discovery. Example: instead of repeatedly listing an ADLS landing folder, Auto Loader discovers new JSON files and records progress in checkpoint state. Trainer clarification: scalability depends on configuration and workload; checkpoints must be durable and unique to the query. Transition: the next slide explains Auto Loader in detail.</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AUTO LOADER.</a:t>
            </a:r>
          </a:p>
          <a:p>
            <a:r>
              <a:rPr lang="en-US" dirty="0"/>
              <a:t> </a:t>
            </a:r>
          </a:p>
          <a:p>
            <a:r>
              <a:rPr lang="en-US" dirty="0"/>
              <a:t>Explanation and trainer script</a:t>
            </a:r>
          </a:p>
          <a:p>
            <a:r>
              <a:rPr lang="en-US" dirty="0"/>
              <a:t>Define Auto Loader as Databricks functionality for incrementally processing new cloud files through the </a:t>
            </a:r>
            <a:r>
              <a:rPr lang="en-US" dirty="0" err="1"/>
              <a:t>cloudFiles</a:t>
            </a:r>
            <a:r>
              <a:rPr lang="en-US" dirty="0"/>
              <a:t> Structured Streaming source. It tracks discovered files, supports schema inference and evolution controls, and scales to very large file counts. Explain that it can run continuously or with triggered processing such as available-now style execution. Example: transaction JSON files land in ADLS every few minutes; Auto Loader ingests only new files into a Bronze Delta table, from which Silver and Gold transformations continue. Checkpointing provides fault-tolerant progress tracking. Trainer clarification: Auto Loader does not automatically clean business errors; transformation and quality rules remain necessary. Transition: next, examine a practical transaction example and why checkpointing matters.</a:t>
            </a:r>
          </a:p>
          <a:p>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Auto Loader - Example &amp; Checkpointing.</a:t>
            </a:r>
          </a:p>
          <a:p>
            <a:r>
              <a:rPr lang="en-US" dirty="0"/>
              <a:t> </a:t>
            </a:r>
          </a:p>
          <a:p>
            <a:r>
              <a:rPr lang="en-US" dirty="0"/>
              <a:t>Explanation and trainer script</a:t>
            </a:r>
          </a:p>
          <a:p>
            <a:r>
              <a:rPr lang="en-US" dirty="0"/>
              <a:t>Use the e-commerce scenario. Each new transaction file is detected, parsed into a streaming </a:t>
            </a:r>
            <a:r>
              <a:rPr lang="en-US" dirty="0" err="1"/>
              <a:t>DataFrame</a:t>
            </a:r>
            <a:r>
              <a:rPr lang="en-US" dirty="0"/>
              <a:t>, transformed, and written into Delta for dashboards or fraud analysis. The checkpoint stores ingestion progress and streaming state so a restart continues from the correct point rather than blindly rereading everything. Explain that source tracking and sink guarantees work together to avoid accidental duplicate processing. Example: if compute stops after processing file 500, the restarted stream consults the checkpoint and resumes with subsequent discoveries. Trainer clarification: do not reuse or delete a production checkpoint casually; changing query logic may require a planned migration. Transition: next, address schema changes such as a new </a:t>
            </a:r>
            <a:r>
              <a:rPr lang="en-US" dirty="0" err="1"/>
              <a:t>payment_method</a:t>
            </a:r>
            <a:r>
              <a:rPr lang="en-US" dirty="0"/>
              <a:t> field.</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Schema Management in Auto Loader.</a:t>
            </a:r>
          </a:p>
          <a:p>
            <a:r>
              <a:rPr lang="en-US" dirty="0"/>
              <a:t> </a:t>
            </a:r>
          </a:p>
          <a:p>
            <a:r>
              <a:rPr lang="en-US" dirty="0"/>
              <a:t>Explanation and trainer script</a:t>
            </a:r>
          </a:p>
          <a:p>
            <a:r>
              <a:rPr lang="en-US" dirty="0"/>
              <a:t>Explain schema inference as determining columns and types from incoming files, with schema information stored at a configured location. Schema evolution controls how newly observed columns are handled. In the example, </a:t>
            </a:r>
            <a:r>
              <a:rPr lang="en-US" dirty="0" err="1"/>
              <a:t>payment_method</a:t>
            </a:r>
            <a:r>
              <a:rPr lang="en-US" dirty="0"/>
              <a:t> appears later; the pipeline needs an explicit policy for adding or rescuing the field rather than failing unexpectedly. Also mention rescued data, which can capture values that do not fit the expected schema for later review. Example: preserve an unexpected column in Bronze, validate it, then promote it into Silver after approval. Trainer clarification: incompatible type changes are not always safely automatic; production pipelines should define expectations and monitor schema drift. Transition: next, compare Auto Loader with the SQL-oriented COPY INTO command.</a:t>
            </a:r>
          </a:p>
          <a:p>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COPY INTO?.</a:t>
            </a:r>
          </a:p>
          <a:p>
            <a:r>
              <a:rPr lang="en-US" dirty="0"/>
              <a:t> </a:t>
            </a:r>
          </a:p>
          <a:p>
            <a:r>
              <a:rPr lang="en-US" dirty="0"/>
              <a:t>Explanation and trainer script</a:t>
            </a:r>
          </a:p>
          <a:p>
            <a:r>
              <a:rPr lang="en-US" dirty="0"/>
              <a:t>Define COPY INTO as an idempotent SQL command for incrementally loading files into a Delta table; previously loaded files are normally skipped based on file metadata. It is convenient for ad hoc or scheduled batch ingestion and moderate file counts. Auto Loader is based on Structured Streaming and is designed for continuously arriving files and much larger scale. Example: use COPY INTO for a nightly vendor drop of hundreds of Parquet files; use Auto Loader when thousands of small files arrive throughout the day and schema changes are expected. Trainer clarification: the exact choice depends on scale, latency, schema behavior, reprocessing needs, and operational model, not only a fixed file-count threshold. Transition: next, move from ingestion to managed declarative pipelines.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What is DLT (Delta Live Tables)?.</a:t>
            </a:r>
          </a:p>
          <a:p>
            <a:r>
              <a:rPr lang="en-US" dirty="0"/>
              <a:t> </a:t>
            </a:r>
          </a:p>
          <a:p>
            <a:r>
              <a:rPr lang="en-US" dirty="0"/>
              <a:t>Explanation and trainer script</a:t>
            </a:r>
          </a:p>
          <a:p>
            <a:r>
              <a:rPr lang="en-US" dirty="0"/>
              <a:t>Introduce the concept historically known as Delta Live Tables, now documented within </a:t>
            </a:r>
            <a:r>
              <a:rPr lang="en-US" dirty="0" err="1"/>
              <a:t>Lakeflow</a:t>
            </a:r>
            <a:r>
              <a:rPr lang="en-US" dirty="0"/>
              <a:t> Spark Declarative Pipelines. It lets teams declare streaming tables and materialized views in SQL or Python while the service manages dependencies, orchestration, incremental processing, monitoring, and recovery. Data quality expectations can warn, drop, or fail records according to policy. Example: Bronze ingests orders, Silver removes invalid amounts and duplicates, and Gold aggregates revenue. The pipeline graph determines execution order automatically. Trainer clarification: current terminology is </a:t>
            </a:r>
            <a:r>
              <a:rPr lang="en-US" dirty="0" err="1"/>
              <a:t>Lakeflow</a:t>
            </a:r>
            <a:r>
              <a:rPr lang="en-US" dirty="0"/>
              <a:t> Spark Declarative Pipelines; older workspaces and learning material may still use DLT. Transition: next, examine how declarative pipelines reduce operational complexity and improve monitoring.</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DLT - Operational Complexity &amp; Monitoring.</a:t>
            </a:r>
          </a:p>
          <a:p>
            <a:r>
              <a:rPr lang="en-US" dirty="0"/>
              <a:t> </a:t>
            </a:r>
          </a:p>
          <a:p>
            <a:r>
              <a:rPr lang="en-US" dirty="0"/>
              <a:t>Explanation and trainer script</a:t>
            </a:r>
          </a:p>
          <a:p>
            <a:r>
              <a:rPr lang="en-US" dirty="0"/>
              <a:t>Explain that traditional pipelines often require separate code for scheduling, dependencies, retries, monitoring, and lineage. Declarative pipelines focus on datasets and transformations, while the platform builds a dependency graph and records operational events. The visual DAG helps operators see upstream and downstream relationships, update status, and data-quality outcomes. Example: if the Silver orders dataset depends on Bronze orders, the pipeline understands the ordering and exposes failures at the affected stage. Unified batch and streaming patterns reduce duplicated orchestration. Trainer clarification: automation reduces, but does not eliminate, the need for testing, alerting, ownership, and cost monitoring. Transition: next, review the most common use cases.</a:t>
            </a:r>
          </a:p>
          <a:p>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Key Use Cases of DLT.</a:t>
            </a:r>
          </a:p>
          <a:p>
            <a:r>
              <a:rPr lang="en-US" dirty="0"/>
              <a:t> </a:t>
            </a:r>
          </a:p>
          <a:p>
            <a:r>
              <a:rPr lang="en-US" dirty="0"/>
              <a:t>Explanation and trainer script</a:t>
            </a:r>
          </a:p>
          <a:p>
            <a:r>
              <a:rPr lang="en-US" dirty="0"/>
              <a:t>Walk through the use cases. Medallion pipelines benefit from managed dependencies across Bronze, Silver, and Gold. Streaming and batch sources can feed one governed design. Expectations enforce critical rules, such as rejecting negative transaction amounts. SQL users can define transformations without writing low-level orchestration. Checkpoints and managed processing improve recovery, while curated Gold datasets can feed ML features. Example: combine streaming card transactions with a daily reference file, validate records, and publish a fresh fraud-feature table. Trainer clarification: “self-healing” means automated retry and state recovery within supported failure scenarios; semantic errors still require human correction. Transition: next, decide when declarative pipelines are preferable to traditional Jobs.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When to Use DLT vs Traditional Jobs.</a:t>
            </a:r>
          </a:p>
          <a:p>
            <a:r>
              <a:rPr lang="en-US" dirty="0"/>
              <a:t> </a:t>
            </a:r>
          </a:p>
          <a:p>
            <a:r>
              <a:rPr lang="en-US" dirty="0"/>
              <a:t>Explanation and trainer script</a:t>
            </a:r>
          </a:p>
          <a:p>
            <a:r>
              <a:rPr lang="en-US" dirty="0"/>
              <a:t>Use declarative pipelines when the deliverable is a continuously maintained set of streaming tables or materialized views with lineage, quality rules, and managed dependencies. Use Jobs when orchestration includes highly custom tasks, external activities, one-off processing, or workloads not naturally represented as declarative datasets. Example: use a pipeline for Bronze-to-Gold sales tables, and a Job to orchestrate that pipeline together with a custom validation notebook and notification task. These options are complementary rather than mutually exclusive. Trainer clarification: current product naming is </a:t>
            </a:r>
            <a:r>
              <a:rPr lang="en-US" dirty="0" err="1"/>
              <a:t>Lakeflow</a:t>
            </a:r>
            <a:r>
              <a:rPr lang="en-US" dirty="0"/>
              <a:t> Spark Declarative Pipelines and </a:t>
            </a:r>
            <a:r>
              <a:rPr lang="en-US" dirty="0" err="1"/>
              <a:t>Lakeflow</a:t>
            </a:r>
            <a:r>
              <a:rPr lang="en-US" dirty="0"/>
              <a:t> Jobs. Transition: next, distinguish streaming tables, materialized views, and views.</a:t>
            </a:r>
          </a:p>
          <a:p>
            <a:r>
              <a:rPr lang="en-US" dirty="0"/>
              <a:t> </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Databricks Delta Live Tables (DLT).</a:t>
            </a:r>
          </a:p>
          <a:p>
            <a:r>
              <a:rPr lang="en-US" dirty="0"/>
              <a:t> </a:t>
            </a:r>
          </a:p>
          <a:p>
            <a:r>
              <a:rPr lang="en-US" dirty="0"/>
              <a:t>Explanation and trainer script</a:t>
            </a:r>
          </a:p>
          <a:p>
            <a:r>
              <a:rPr lang="en-US" dirty="0"/>
              <a:t>Explain a streaming table as a persisted table updated incrementally from a streaming source. It is suitable for append-oriented events such as transactions, logs, or IoT readings. A materialized view stores query results physically and is maintained by the pipeline, making repeated analytical reads faster than recomputing the full query each time. Example: ingest order events into a streaming table, then maintain daily revenue by region as a materialized view for BI. Trainer clarification: incremental-refresh behavior depends on query semantics and platform support; the engine can choose an appropriate refresh strategy. Current terminology places these objects in </a:t>
            </a:r>
            <a:r>
              <a:rPr lang="en-US" dirty="0" err="1"/>
              <a:t>Lakeflow</a:t>
            </a:r>
            <a:r>
              <a:rPr lang="en-US" dirty="0"/>
              <a:t> Spark Declarative Pipelines. Transition: the next slide explains a non-materialized view for intermediate logic.</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3. View.</a:t>
            </a:r>
          </a:p>
          <a:p>
            <a:r>
              <a:rPr lang="en-US" dirty="0"/>
              <a:t> </a:t>
            </a:r>
          </a:p>
          <a:p>
            <a:r>
              <a:rPr lang="en-US" dirty="0"/>
              <a:t>Explanation and trainer script</a:t>
            </a:r>
          </a:p>
          <a:p>
            <a:r>
              <a:rPr lang="en-US" dirty="0"/>
              <a:t>Define a view as a stored query definition rather than physically stored result data. In a pipeline, a view can organize reusable intermediate logic such as parsing JSON, renaming columns, or standardizing values without creating another persisted dataset. Because the result is computed when referenced, views avoid unnecessary storage but may repeat computation. Example: create an intermediate view that extracts </a:t>
            </a:r>
            <a:r>
              <a:rPr lang="en-US" dirty="0" err="1"/>
              <a:t>order_id</a:t>
            </a:r>
            <a:r>
              <a:rPr lang="en-US" dirty="0"/>
              <a:t> and amount from raw JSON, then use it to build a validated materialized view. Choose persistence when performance, reuse, or downstream access requires it. Trainer clarification: object behavior and syntax depend on whether the view is a pipeline-private construct or a published catalog object. Transition: the final slide connects Databricks development with Git-based collaboration.</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Today we will examine GitHub integration - </a:t>
            </a:r>
            <a:r>
              <a:rPr lang="en-US" dirty="0" err="1"/>
              <a:t>databricks</a:t>
            </a:r>
            <a:r>
              <a:rPr lang="en-US" dirty="0"/>
              <a:t>.</a:t>
            </a:r>
          </a:p>
          <a:p>
            <a:r>
              <a:rPr lang="en-US" dirty="0"/>
              <a:t> </a:t>
            </a:r>
          </a:p>
          <a:p>
            <a:r>
              <a:rPr lang="en-US" dirty="0"/>
              <a:t>Explanation and trainer script</a:t>
            </a:r>
          </a:p>
          <a:p>
            <a:r>
              <a:rPr lang="en-US" dirty="0"/>
              <a:t>Explain Git integration as version control for notebooks and code. A central GitHub repository stores the authoritative history; developers work in branches, commit changes, open pull requests, review code, and merge approved work into the main branch. Databricks Git folders, previously called Repos, synchronize workspace files with a remote Git provider. Example: one engineer changes Bronze ingestion while another updates Silver quality rules in separate branches; automated checks and peer review protect main. Emphasize that Git versions source code, not the underlying production data. Secrets and credentials must never be committed. Trainer clarification: deployment to test and production should use an approved CI/CD process rather than relying only on manual pulls. Close by summarizing the course journey from platform fundamentals through governed pipelines and collaborative delivery.</a:t>
            </a:r>
          </a:p>
          <a:p>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0A0E"/>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5D90A"/>
          </a:solidFill>
          <a:ln w="12700">
            <a:solidFill>
              <a:srgbClr val="F5D90A"/>
            </a:solidFill>
            <a:prstDash val="solid"/>
          </a:ln>
        </p:spPr>
        <p:txBody>
          <a:bodyPr/>
          <a:lstStyle/>
          <a:p>
            <a:endParaRPr lang="en-IN"/>
          </a:p>
        </p:txBody>
      </p:sp>
      <p:sp>
        <p:nvSpPr>
          <p:cNvPr id="3" name="Text 1"/>
          <p:cNvSpPr/>
          <p:nvPr/>
        </p:nvSpPr>
        <p:spPr>
          <a:xfrm>
            <a:off x="502920" y="182880"/>
            <a:ext cx="11155680" cy="256032"/>
          </a:xfrm>
          <a:prstGeom prst="rect">
            <a:avLst/>
          </a:prstGeom>
          <a:noFill/>
          <a:ln/>
        </p:spPr>
        <p:txBody>
          <a:bodyPr wrap="square" lIns="0" tIns="0" rIns="0" bIns="0" rtlCol="0" anchor="ctr"/>
          <a:lstStyle/>
          <a:p>
            <a:pPr marL="0" indent="0" algn="ctr">
              <a:buNone/>
            </a:pPr>
            <a:r>
              <a:rPr lang="en-US" sz="1000" b="1" dirty="0">
                <a:solidFill>
                  <a:srgbClr val="F5D90A"/>
                </a:solidFill>
                <a:latin typeface="Aptos" pitchFamily="34" charset="0"/>
                <a:ea typeface="Aptos" pitchFamily="34" charset="-122"/>
                <a:cs typeface="Aptos" pitchFamily="34" charset="-120"/>
              </a:rPr>
              <a:t>DATABRICKS SERIES</a:t>
            </a:r>
            <a:endParaRPr lang="en-US" sz="1000" dirty="0"/>
          </a:p>
        </p:txBody>
      </p:sp>
      <p:sp>
        <p:nvSpPr>
          <p:cNvPr id="4" name="Shape 2"/>
          <p:cNvSpPr/>
          <p:nvPr/>
        </p:nvSpPr>
        <p:spPr>
          <a:xfrm>
            <a:off x="502920" y="6528816"/>
            <a:ext cx="11201400" cy="0"/>
          </a:xfrm>
          <a:prstGeom prst="line">
            <a:avLst/>
          </a:prstGeom>
          <a:noFill/>
          <a:ln w="8890">
            <a:solidFill>
              <a:srgbClr val="27303A"/>
            </a:solidFill>
            <a:prstDash val="solid"/>
          </a:ln>
        </p:spPr>
        <p:txBody>
          <a:bodyPr/>
          <a:lstStyle/>
          <a:p>
            <a:endParaRPr lang="en-IN"/>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a:t>
            </a:fld>
            <a:endParaRPr lang="en-US"/>
          </a:p>
        </p:txBody>
      </p:sp>
      <p:sp>
        <p:nvSpPr>
          <p:cNvPr id="3" name="TextBox 2">
            <a:extLst>
              <a:ext uri="{FF2B5EF4-FFF2-40B4-BE49-F238E27FC236}">
                <a16:creationId xmlns:a16="http://schemas.microsoft.com/office/drawing/2014/main" id="{C96D9E7B-CE3F-61AE-A7B8-0EC24C985815}"/>
              </a:ext>
            </a:extLst>
          </p:cNvPr>
          <p:cNvSpPr txBox="1"/>
          <p:nvPr>
            <p:extLst>
              <p:ext uri="{1162E1C5-73C7-4A58-AE30-91384D911F3F}">
                <p184:classification xmlns:p184="http://schemas.microsoft.com/office/powerpoint/2018/4/main" val="ftr"/>
              </p:ext>
            </p:extLst>
          </p:nvPr>
        </p:nvSpPr>
        <p:spPr>
          <a:xfrm>
            <a:off x="63500" y="6672580"/>
            <a:ext cx="855663" cy="121920"/>
          </a:xfrm>
          <a:prstGeom prst="rect">
            <a:avLst/>
          </a:prstGeom>
        </p:spPr>
        <p:txBody>
          <a:bodyPr horzOverflow="overflow" lIns="0" tIns="0" rIns="0" bIns="0">
            <a:spAutoFit/>
          </a:bodyPr>
          <a:lstStyle/>
          <a:p>
            <a:pPr algn="l"/>
            <a:r>
              <a:rPr lang="en-US" sz="800">
                <a:solidFill>
                  <a:srgbClr val="317100">
                    <a:alpha val="50000"/>
                  </a:srgbClr>
                </a:solidFill>
                <a:latin typeface="Aptos" panose="020B0004020202020204" pitchFamily="34" charset="0"/>
              </a:rPr>
              <a:t>Sensitivity: 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DATABRICKS -</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Databricks is a unified analytics and data engineering platform that lets you process, and analyze all kinds of data in one place.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built on top of Apache Spark but adds many enterprise features, including: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Collaborative workspaces for data engineers, data scientists, and analysts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Support for data lakes, data warehouses, and machine learning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Delta Lake technology for reliability, governance, and speed</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What is Apache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Apache Spark 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An open-source distributed computing engine for processing large datasets.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Very fast compared to older frameworks like Hadoop MapReduce.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Can run batch, streaming, SQL, ML, and graph workloads.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Requires you to manage clusters, storage, integrations, and scaling manually.</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Why Databricks is Different from Just Using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fast distributed processing, but you must manage clusters, storage, and integrations manually.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adds a friendly UI, auto-cluster management, collaborative notebooks, optimized connectors, governance tools, ML lifecycle support, and Delta Lake for reliable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like the difference between owning a powerful engine vs. a fully built sports car - same power, but one is ready to drive.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Setup &amp; Infrastructure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install, configure, and manage your own clusters (on-premise or cloud).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Fully managed - just click to create clusters, no manual setup.</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SPARK ALONE VS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2. Cluster Management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must manually scale up/down, monitor, and shut down clusters.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Auto-scaling clusters that start/stop based on workload to save cost.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Data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Reads/writes from external storage (S3, HDFS, Azure Blob), but no built-in transactional layer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Uses Delta Lake for ACID transactions, schema enforcement, and time travel.</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4. Data Governance &amp; Security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handle permissions manually at the file system or storage level.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Unity Catalog provides centralized data access control, auditing, and compliance.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5. Collaboration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No built-in multi-user interface - sharing requires exporting scripts or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Collaborative notebooks where multiple users can work together.</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6. Workflow Automation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Requires external schedulers (Airflow, cron) for automation.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Built-in Jobs scheduler with monitoring, retry policies, and alerts.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7. Machine Learning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MLlib for basic ML, but no built-in experiment tracking or deployment tools.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MLflow integrated for ML lifecycle management (tracking, registry, deployment).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9. Optimization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manually tune configurations for performance.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Auto-optimizations (e.g., Photon engine for faster SQL, auto-tuning).</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10. Integrations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set up JDBC/ODBC drivers manually for BI tools.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Native connectors to Power BI, Tableau, Looker, Snowflake, etc.</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the Databricks Lakehouse?</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The Lakehouse is Databricks' data architecture that combines the best parts of a Data Lake and a Data Warehouse in a single system.</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Lake strength - Store all kinds of data (structured, semi-structured, unstructured) cheaply in cloud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Warehouse strength - Provide fast queries, governance, and reliability.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Lakehouse merges these into one unified platform using Delta Lake (the secret sauce).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Problems It Solves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Data Silos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Traditionally, companies needed a Data Lake for raw data + a Data Warehouse for analytics.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That meant two systems, constant ETL pipelines, and duplicate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Lakehouse = one platform, no silos.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Reliability Issues in Data Lakes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Normal data lakes (S3, ADLS, GCS) don't support: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ACID transactions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Schema enforcement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Version control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This caused corrupted tables and inconsistent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Lakehouse (via Delta Lake) adds ACID transactions + schema validation + time travel.</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Scalability &amp; Cost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warehouses are fast but very expensive and limited to structured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lakes are cheap &amp; scalable but slow and unreliable.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Lakehouse keeps data in cheap cloud storage (like a lake) but allows fast SQL queries (like a warehouse).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How It Works Internally</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Data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is stored in cloud object storage (S3, ADLS, GCS).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Stored in open formats (Parquet, JSON, Avro, ORC).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Delta Lake Layer (the magic)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Adds a transaction log (_delta_log folder) on top of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Tracks every write/update/delete.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Ensures ACID transactions (no partial writes).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Provides schema enforcement + schema evolution.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Enables time travel (query old versions of data).</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Query &amp; Compute Layer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 Spark, SQL, Python, R, Scala, or Java to process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Optimized with Photon Engine (faster SQL queries).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Supports batch, streaming, ML, and BI workloads.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Governance &amp; Security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Unity Catalog manages data access, metadata, and lineage.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Fine-grained security across tables, columns, and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Advantages of Databricks Lakehouse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Unified Platform - No need for both a lake + warehouse, everything is in one place.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Open Data Format - Data stays in open formats (Parquet/Delta), avoiding vendor lock-in.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ACID Transactions - Reliable data like a database.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Time Travel - Query historical data versions.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Performance - Indexing, caching, and Photon engine make queries super fast.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Cost-Efficient - Store on cheap cloud storage but query like a warehouse.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Supports All Workloads - BI dashboards, ML training, real-time streaming, batch ETL.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Scalable &amp; Elastic - Auto-scales with cloud compute.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Unity Catalog?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Unity Catalog is Databricks' governance and data management layer for all data and AI assets.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Think of it as a centralized system for organizing, securing, auditing, and discovering data across all workspaces and cloud environments (Azure, AWS, GCP).</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It manages: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Tables (structured data, Delta tables)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Files (unstructured/semi-structured in data lake)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Machine learning models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Functions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Dashboards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In short: One catalog to govern everything (instead of every workspace managing its own metadata &amp; permissions separately).</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Without Unity Catalog vs With Unity Catalog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Without Unity Catalog</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Databricks Workspace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User Management</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Metastore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Compute</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With Unity Catalog</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Unity Catalog</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User Management</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Metastore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Databricks Workspace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Compute</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MANAGED VS EXTERNAL Table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In Databricks, tables can be created in two ways: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Managed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External Table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Managed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 Managed Table means Databricks manages both the metadata AND the underlying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is stored in Unity Catalog location (or workspace default storage if no UC).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Dropping the table also deletes the underlying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Characteristics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stored in default managed storage location: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UC: &lt;UC managed storage location&gt;/&lt;catalog&gt;/&lt;schema&gt;/&lt;table&gt;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Without UC: /user/hive/warehouse/&lt;table-name&gt;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controls lifecycle of data (create, drop).</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Easier for prototyping / temporary workloads.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You don't specify path while creating the table.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External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An External Table means Databricks manages only the metadata, but data lives in an external path that you specify.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Dropping the table removes only the metadata, NOT the underlying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Characteristics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You must specify a LOCATION (path in ADLS/S3/GCS).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lifecycle is outside Databricks' control.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Good for shared datasets, compliance, or if you want to keep data even if the table is dropped.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Useful when multiple engines (Databricks, Synapse, Athena, Hive) need to access the same data.</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Volumes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A Volume in Unity Catalog 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 logical container to store unstructured or semi-structured data, just like a folder in your data lake.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Governed and integrated into the 3-level namespace (catalog.schema.volume).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Works alongside tables (structured data) and functions/views (logical objects).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Supports both managed and external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Managed Volume - Databricks manages lifecycle; files deleted if volume is dropped.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External Volume - Files remain in external storage even if dropped from UC.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Analogy: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Table = Excel sheet (structured rows &amp; columns).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Volume = Folder with multiple file types (CSVs, PDFs, Images).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Problems Enterprises Faced Before UC Volumes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 1: Data Fragmentation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scattered across /raw, /staging, /prod folders.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 central catalog of 'where is what.'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 2: Security Gaps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Access control based only on storage credentials (SAS keys, IAM roles).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If a user has a SAS key - they can read/write everything in that container.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Zero visibility into which user accessed which file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 3: Lack of Metadata &amp; Governance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Tables had schemas &amp; metadata.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 black holes: no lineage, no owner, no description.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 search functionality: analysts had to 'ask around' or manually browse.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How Unity Catalog Volumes Fix These Problems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Centralized Namespace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and tables live under the same structure: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catalog.schema.table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catalog.schema.volume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Example: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retail.sales.orders - structured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retail.sales.raw_files - volume holding unstructured CSV/JSON/XML.</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Fine-Grained Access Control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Permissions applied inside Databricks, not at storage account.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GRANT READ FILES ON VOLUME retail.sales.raw_files TO analyst_group;</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GRANT WRITE FILES ON VOLUME retail.sales.raw_files TO engineer_group;</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Metadata &amp; Governance for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Each volume has owner, description, tags, lineage.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inside volumes can be catalogued and discovered.</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Unified Audit &amp; Lineage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UC logs file access - 'who read which file at what time.'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Helps with compliance (GDPR/CCPA).</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Advantages of Volumes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Unified Governance - Files are now governed like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Data Discovery - Analysts can find CSV/Parquet directly from UC search.</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Improved Security - No raw storage keys; RBAC at file level.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Cross-Workspace Access - No duplication of data/permissions.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Compliance - File access is logged.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Supports Any File - CSV, JSON, parquet, ML model artifacts, PDFs, images, etc.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Lifecycle Management - Managed volumes auto-delete with UC cleanup.</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Lakehouse Federation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Lakehouse Federation = querying external data sources directly from Databricks SQL or notebooks without copying data into Delta tables.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Normally, in Databricks you ingest raw data into ADLS/S3/GCS, convert it to Delta tables, and then query.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But sometimes, you already have data stored in external systems like: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Snowflake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PostgreSQL / MySQL / SQL Server / Oracle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BigQuery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AWS Redshift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SAP, etc.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Instead of duplicating or ETL'ing all this data into Databricks, you can federate - create a link to those systems and query them as if they were Databricks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So your Lakehouse can act as a single pane of glass across multiple systems.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Advantages / Why do we need this?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Avoids Data Duplication - No need to ETL or replicate data from multiple warehouses/databases - directly query in place.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Central Governance (Unity Catalog) - Even external data respects Databricks security, RBAC, auditing. This is huge for enterprises.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Cross-System Analytics - You can join Delta tables with Snowflake/Postgres tables in a single SQL query.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Faster Prototyping - Analysts don't wait for pipelines; they can query existing DBs instantly.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Cost Optimization - You don't need to pay for storage + compute in two systems by duplicating data.</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What problems does it solve?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Before federation: You had to write ETL pipelines; data became stale; governance was split; queries across systems were hard.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Now with Federation: No extra pipelines. Near real-time access to external data. Single governance layer (Unity Catalog policies apply even to external data).</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Databricks SQL?</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350" dirty="0">
                <a:solidFill>
                  <a:srgbClr val="F4F7FA"/>
                </a:solidFill>
                <a:latin typeface="Aptos" pitchFamily="34" charset="0"/>
                <a:ea typeface="Aptos" pitchFamily="34" charset="-122"/>
                <a:cs typeface="Aptos" pitchFamily="34" charset="-120"/>
              </a:rPr>
              <a:t>Databricks SQL (DBSQL) is a SQL-first workspace inside Databricks.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It is built for business analysts, BI users, and decision-makers to query data, build dashboards, and connect BI tools (like Power BI, Tableau) - without needing notebooks, Python, or Spark skills.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It runs on SQL Warehouses, which are special compute clusters optimized for fast, concurrent, low-latency SQL queries.</a:t>
            </a:r>
            <a:endParaRPr lang="en-US" sz="1350" dirty="0"/>
          </a:p>
          <a:p>
            <a:pPr marL="0" indent="0">
              <a:buNone/>
            </a:pP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Why do we need DBSQL when we already had Notebooks + Spark SQL?</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Notebooks + Spark SQL were designed for data engineers/scientists - good for heavy ETL, ML, or complex pipelines.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But they are not friendly for analysts/business users who just want to write SQL or use dashboards.</a:t>
            </a:r>
            <a:endParaRPr lang="en-US" sz="1350" dirty="0"/>
          </a:p>
          <a:p>
            <a:pPr marL="0" indent="0">
              <a:buNone/>
            </a:pP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Problems with only using notebooks: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Hard for non-technical users (need to know Python/Scala, cluster configs).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Not great for BI dashboards (Spark clusters are slow for many small, frequent queries).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High cost (clusters may stay running, even if idle).</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No built-in dashboards or alerts.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Limited concurrency (a few notebook queries at once vs 100s of BI users).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So, notebooks are great for creating data but bad for consuming data at scale.</a:t>
            </a:r>
            <a:endParaRPr lang="en-US" sz="1350" dirty="0"/>
          </a:p>
          <a:p>
            <a:pPr marL="0" indent="0">
              <a:buNone/>
            </a:pP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What problems DBSQL solves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Performance issue - Dashboards refresh fast with Photon engine + caching.</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Concurrency issue - 100s of users can query at the same time reliably.</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Cost issue - SQL Warehouses auto-scale &amp; auto-pause, no wasted clusters.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Usability issue - Analysts get a simple SQL interface, not complex notebooks.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Governance issue - With Unity Catalog, all queries follow the same security rules (row/column masking, lineage, audit).</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Tool integration issue - Easy to connect with BI tools (Power BI, Tableau, Looker) via SQL endpoints.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Dashboarding issue - DBSQL has built-in dashboards &amp; alerts, no extra tool required.</a:t>
            </a:r>
            <a:endParaRPr lang="en-US" sz="135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Advantages &amp; Business Value</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For Analysts/Users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Simple - Just write SQL, no Python needed.</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Faster dashboards and queries.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Built-in dashboards, alerts, query history.</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Can self-serve without depending on engineers.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For Business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One source of truth - Everyone queries the same Delta data, no copies.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Lower cost - No need for a separate data warehouse like Snowflake/Redshift.</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Governance - Security and compliance built-in (important for finance, healthcare, etc.).</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Faster decision making - Executives see live dashboards, not stale reports.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Unified platform - Data engineers, data scientists, and business users all work on the same Lakehouse.</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are Lakehouse Jobs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In Databricks, a Job = a way to automate a task (like running a notebook, SQL query, pipeline, or workflow) on a schedule or trigger.</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Lakehouse Jobs simply means running and scheduling tasks (jobs) inside the Databricks Lakehouse.</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Instead of you manually opening a notebook and clicking 'Run', a Job does it automatically, at scale, with monitoring and retry features.</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Retail Sales Analytics Project -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Medallion Architecture in Databricks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Business Use Case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 mid-size retail company is struggling to consolidate and analyze its sales transactions that are spread across different sources and formats.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The business wants a unified analytics solution to:</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clean messy data (inconsistent formats, missing values, duplicates),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build a single source of truth for sales, customers, and products,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monitor KPIs such as revenue, return rate, repeat customers, average order value,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enable business teams to explore insights across product, category, customer, and time dimensions,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and use dashboards for data-driven decisions (e.g., inventory, pricing, promotions).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Solution - Medallion architecture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Bronze Layer: Ingest messy CSV/Parquet files manually (as simulated in Databricks free edition).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Silver Layer: Clean and standardize data (fix dates, remove $ from prices, normalize product names, handle missing/negative quantities, remove duplicates).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Gold Layer: Create one rich aggregate Delta table with grouped metrics across product, customer, category, and time (year, month, date).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KPIs Derived: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Total Revenue, Total Orders, Total Items Sold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Average Order Value (AOV), Average Price per Item</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Repeat Customer Rate, Purchase Frequency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Return Rate (by count &amp; value)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Monthly Sales Trends &amp; MoM Growth</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Top Products by Revenue and Quantity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Customer Lifetime Value (CLV) approximation</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Dashboard: Build a Databricks SQL Dashboard showing trends, category performance, top products, and customer insights.</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Retail Sales Analytics - Data Flow</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Retail → Sales, Product, Customer</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Retail → CSV / JSON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Unified Dataset → Clean → Dashboard</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SPARK STREAMING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Spark Streaming is an extension of Apache Spark that allows you to process live data streams in near real-time.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It uses micro-batching or continuous processing: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Spark processes them quickly (like every 1 sec, 10 sec,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 sources: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Kafka (real-time events)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Cloud storage (new files arriving)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IoT sensors, logs, clickstream,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Batch processing - process data in discrete jobs on a snapshot of data (daily, hourly, ad-hoc). Good when slight delay is fine and you need to process large historical volumes.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Spark Structured Streaming - continuous processing of incoming events with low latency (micro-batches or continuous execution). Good when you must react quickly to events.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It's used in real-world scenarios like: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Product recommendation - recommend items as users browse (e.g., 'Customers also bought ...')</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Fraud detection - flag suspicious payments, logins, or account takeovers in seconds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Anomaly detection - detect unusual sensor readings, system failures, or traffic spikes</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Spark Streaming Recap</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In Spark Structured Streaming, you need a source (Kafka, files, socket, etc.) that produces data continuously.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Spark then processes it in micro-batches or continuous mode, and writes to a sink (Delta, DB, console,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df = spark.readStream.format('json').load('/mnt/raw/events')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Here, Spark will keep checking the folder for new files.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Problem:</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It doesn't scale well if you have millions of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Duplicate/reprocessing issues.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Schema changes break the pipeline.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Where Auto Loader Comes In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 Loader is Databricks' optimized source for Spark Streaming when the data comes from cloud storage.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Think of Auto Loader as a specialized streaming source in Spark that: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Continuously monitors a directory in ADLS/S3/GCS.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Ingests only new files (incremental).</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Keeps track with checkpoints (so it knows what's already processed).</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Handles schema inference &amp; evolution automatically.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Scales to billions of files (normal file streaming struggles with this).</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AUTO LOADER</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Auto Loader is a feature in Databricks that makes it super easy to ingest (load) new data files automatically from cloud storage (like Azure Data Lake, AWS S3, or GCP Storage) into Delta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built on top of Spark Structured Streaming.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Instead of you manually telling Spark where new files are, Auto Loader will continuously watch a folder for new data and process it incrementally (only new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Why do we need Auto Loader?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Normally in Spark Streaming: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You'd have to write custom logic to detect new files, avoid reprocessing old ones, and handle schema changes.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This is painful and error-prone.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solves this: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Incremental processing - Only picks up new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Schema evolution - Can handle when new columns appear in the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Scalability - Can process billions of files efficiently.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4. Checkpointing - Keeps track of what's already processed.</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How Auto Loader works (in Spark Streaming terms):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runs as a streaming source in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listens to a directory in cloud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Whenever a new file lands, Spark Streaming picks it up and processes it in micro-batches or continuous mode.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then writes data into Delta Lake (Bronze → Silver → Gold) layers.</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Auto Loader - Example &amp; Checkpointing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Example (Real-time)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Suppose you run an E-commerce website and store all user transactions (JSON files) in Azure Data Lake.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Without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You'd need to manually rerun jobs, handle duplicates,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As soon as a new transaction file lands in the folder,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Detects the file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Reads it into a Spark Streaming DataFrame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Cleans/transforms it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Saves it into Delta Table in near real-time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This helps in real-time dashboards for: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Fraud detection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Live sales monitoring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Recommendation engines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1. Checkpointing in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In Spark Structured Streaming, a checkpoint is where Spark saves information about: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What files it has already read.</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The progress of the stream (so it doesn't reprocess old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The state of the query.</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Why it matters in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Without checkpointing, Spark would re-read all files every time you restart the stream.</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 checkpointing, Auto Loader knows exactly where it left off.</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Schema Management in Auto Loader</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Data schema can evolve over time (new columns added, column types changed, etc.). Normally, this breaks ingestion jobs.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 Loader has two modes for schema handling:</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 Schema Inference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 Loader automatically detects schema from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Stores schema in a schema location path (metastore).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Next time new data comes, it compares with the saved schema.</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b) Schema Evolution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If a new column appears, Auto Loader can automatically add it.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This prevents ingestion failure when data changes.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 - Real Scenario</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Imagine your e-commerce site logs transactions like this: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Day 1 file (JSON):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{'txn_id': 101, 'customer_id': 1, 'amount': 500}</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Day 5 file (new schema):</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{'txn_id': 102, 'customer_id': 2, 'amount': 700, 'payment_method': 'UPI'}</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Without schema evolution → Job fails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 Auto Loader schema evolution → The new column payment method gets added automatically</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COPY INTO?</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COPY INTO is a Databricks SQL command used to load data from files (CSV, JSON, Parquet, etc.) stored in cloud storage (S3, ADLS, GCS) into a Delta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idempotent - already loaded files are skipped automatically, so you won't insert duplicates accidentally.</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Key differences at a glance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Mode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COPY INTO: Batch (you run it on a schedule or ad-hoc).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Streaming or triggered micro-batches; continuously processes arrivals.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Scale &amp; cost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COPY INTO: Good for thousands of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Built for millions+; fewer listing ops, cheaper &amp; more efficient at scale.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Schema handling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COPY INTO: Can infer input schema and evolve target with mergeSchema. Works even with schemaless target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Automatic schema inference &amp; evolution, plus rescued data for unexpected columns/types.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to use which</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Choose COPY INTO if:</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have one-off or scheduled batch loads.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Volume is modest (up to thousands of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want pure SQL simplicity (no streaming job to manage).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Choose Auto Loader if:</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Files arrive continuously and you need near-real-time ingestion.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expect millions+ files over time and want lower listing cost.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want built-in schema drift handling and pipeline resilience at scale.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DLT (Delta Live Tables)?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Delta Live Tables (DLT) is a framework for building reliable ETL/ELT pipelines on Databricks using SQL or PySpark.</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is declarative, meaning instead of writing step-by-step jobs (imperative), you just declare what data you want and how it should be transformed.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handles the orchestration, dependency management, monitoring, and error recovery for you.</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Think of it like a modernized version of ETL pipelines that 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Auto-managed (no need to manually schedule and monitor complex workflows)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Data quality aware (can enforce expectations and rules on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Optimized for Delta Lake (storage format that gives ACID transactions, time travel, schema enforcement, etc.)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Problems DLT Solves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Complex Pipeline Orchestration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Traditional ETL = manually chaining notebooks/jobs, with dependencies (bronze → silver → gold).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DLT automatically manages dependencies between tables. If table A depends on B, Databricks ensures B is built first.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Data Quality Issues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Pipelines often break due to bad or missing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DLT lets you define data quality rules ('expectations') like: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EXPECT col_x &gt; 0 ON VIOLATION DROP ROW;</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This prevents corrupt records from flowing downstream.</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Scalability &amp; Performance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Instead of managing scaling, caching, and optimizations manually, DLT uses: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Auto-scaling clusters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Photon engine for speed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Delta Lake optimizations (Z-Ordering, caching, schema evolution)</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DLT - Operational Complexity &amp; Monitoring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4. Operational Complexity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Usually, ETL teams build lots of jobs for ingestion, cleaning, transformations, and aggregates.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DLT reduces this by: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Defining tables once in SQL/PySpark</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Automatically keeping them up-to-date (batch or streaming)</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5. Observability &amp; Monitoring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Hard to monitor failures in classic pipelines.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DLT comes with a visual DAG and lineage tracking - you can see how data flows from raw to gold tables.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Advantages of DLT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Declarative Approach → Write less orchestration logic, focus on transformations.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Unified Batch &amp; Streaming → One code works for both real-time (Kafka, Auto Loader) &amp; batch ingestion.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Data Quality Rules → Enforce schema, filter out bad records, maintain trustworthy data.</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Lineage &amp; Monitoring → Visual DAG, job history, data freshness tracking.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Auto Management → Scaling, retries, incremental processing handled automatically.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Integration with Medallion Architecture → Perfect for Bronze → Silver → Gold layer design.</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Key Use Cases of DLT</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1. Medallion Architecture Pipelines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Ingest raw data into Bronze (e.g., JSON from Kafka/S3).</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Clean/transform into Silver (filtering nulls, joins, normalization).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Aggregate into Gold (reporting, ML features, BI dashboards).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DLT makes these seamless with dependency management.</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2. Streaming + Batch Unified</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Say you have Kafka streaming transactions + daily batch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Instead of two separate pipelines, DLT handles both with one code.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3. Data Quality Enforcement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Finance/Healthcare industries → cannot risk bad records.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 Transactions with negative amounts automatically filtered before Silver layer.</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4. Simplify ETL for Data Analysts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Analysts who know only SQL can define DLT tables using CREATE LIVE TABLE without Spark/Scala knowledge.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5. Self-Healing Pipelines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If upstream data changes or jobs fail, DLT can auto-recover and continue from the last checkpoint.</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6. Feature Engineering for ML</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Build curated Gold tables with time windowed aggregates and keep them always fresh for ML models.</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When to Use DLT vs Traditional Jobs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Use DLT when: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want declarative, auto-managed, lineage-aware pipelines.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care about data quality rules &amp; reliability.</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You're building streaming + batch unified pipelines.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want Medallion architecture with fewer moving parts.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Use classic notebooks/jobs when: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need very custom ETL logic.</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You're working with non-Delta formats.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want one-off data processing (not continuous pipelines).</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Databricks Delta Live Tables (DLT)</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In Databricks Delta Live Tables (DLT) you'll see Streaming Tables, Materialized Views, and Views.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Streaming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 A table that processes incremental (streaming) data and maintains a live, continuously updated state.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How it works: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Built on Structured Streaming in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Reads new records as they arrive from a source (Kafka, files via Auto Loader, Kinesis, etc.).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Applies your transformations (filters, joins, aggregations).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Updates the target table incrementally.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 case: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your source data is real-time or append-only (new events, transactions, logs).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Example: Processing clickstream logs, IoT sensor data, financial transactions.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Materialized View</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 A batch or incremental physical table that stores results of transformations.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is automatically managed (incremental refresh, schema evolution, quality enforcement).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How it works: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Stores the output physically in Delta format.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Optimized for incremental computation: it recomputes only the changes from the source, not the full dataset.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Provides durability and performance (fast reads for BI tools, aggregations).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 case: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you want curated Silver/Gold tables (cleaned and aggregated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data will be queried frequently (Synapse, Power BI, Tableau).</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Example: Aggregating daily sales by region from streaming orders.</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3. View</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Definition: A logical view (not materialized) of data in the pipeline.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It only exists inside the pipeline for intermediate transformations.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How it works: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Not stored on disk.</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Acts like a SQL view in a database: just a query definition.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Good for reusability inside pipelines.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Use case: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For intermediate logic where materialization is unnecessary.</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Keeps pipeline simpler without creating unnecessary storage.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Example: Parsing JSON or normalizing columns before writing to a materialized table.</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GitHub integration -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txBody>
          <a:bodyPr/>
          <a:lstStyle/>
          <a:p>
            <a:endParaRPr lang="en-IN"/>
          </a:p>
        </p:txBody>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GitHub + Databricks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main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Codes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Note 1</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Note 2</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Central repo</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GitHub</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B949E"/>
                </a:solidFill>
              </a:defRPr>
            </a:lvl1pPr>
          </a:lstStyle>
          <a:p>
            <a:pPr algn="l"/>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7f6b194-73f8-48d3-95d2-0d2530a9bb45}" enabled="1" method="Privileged" siteId="{0483ae51-a627-466e-a7dd-de2ac7e1238e}" contentBits="0" removed="0"/>
</clbl:labelList>
</file>

<file path=docProps/app.xml><?xml version="1.0" encoding="utf-8"?>
<Properties xmlns="http://schemas.openxmlformats.org/officeDocument/2006/extended-properties" xmlns:vt="http://schemas.openxmlformats.org/officeDocument/2006/docPropsVTypes">
  <TotalTime>3</TotalTime>
  <Words>9629</Words>
  <Application>Microsoft Office PowerPoint</Application>
  <PresentationFormat>Widescreen</PresentationFormat>
  <Paragraphs>813</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Series</dc:title>
  <dc:subject>Databricks training deck</dc:subject>
  <dc:creator>Rajeev Kumar Gupta</dc:creator>
  <cp:lastModifiedBy>Rajeev Kumar Gupta</cp:lastModifiedBy>
  <cp:revision>4</cp:revision>
  <dcterms:created xsi:type="dcterms:W3CDTF">2026-10-22T13:01:18Z</dcterms:created>
  <dcterms:modified xsi:type="dcterms:W3CDTF">2026-10-22T13:08:22Z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Internal</vt:lpwstr>
  </property>
</Properties>
</file>