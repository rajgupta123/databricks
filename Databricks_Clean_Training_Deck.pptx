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ev Kumar Gupta" userId="S::rajeev.gupta1@evalueserve.com::7e005507-6490-4070-a5a5-0bd490960cc0" providerId="AD" clId="Web-{31238220-2BB5-F062-607C-2479037E033F}"/>
    <pc:docChg chg="mod modMainMaster">
      <pc:chgData name="Rajeev Kumar Gupta" userId="S::rajeev.gupta1@evalueserve.com::7e005507-6490-4070-a5a5-0bd490960cc0" providerId="AD" clId="Web-{31238220-2BB5-F062-607C-2479037E033F}" dt="2026-10-21T17:41:24.397" v="1" actId="33475"/>
      <pc:docMkLst>
        <pc:docMk/>
      </pc:docMkLst>
      <pc:sldMasterChg chg="addSp">
        <pc:chgData name="Rajeev Kumar Gupta" userId="S::rajeev.gupta1@evalueserve.com::7e005507-6490-4070-a5a5-0bd490960cc0" providerId="AD" clId="Web-{31238220-2BB5-F062-607C-2479037E033F}" dt="2026-10-21T17:41:24.397" v="0" actId="33475"/>
        <pc:sldMasterMkLst>
          <pc:docMk/>
          <pc:sldMasterMk cId="0" sldId="2147483648"/>
        </pc:sldMasterMkLst>
        <pc:spChg chg="add">
          <ac:chgData name="Rajeev Kumar Gupta" userId="S::rajeev.gupta1@evalueserve.com::7e005507-6490-4070-a5a5-0bd490960cc0" providerId="AD" clId="Web-{31238220-2BB5-F062-607C-2479037E033F}" dt="2026-10-21T17:41:24.397" v="0" actId="33475"/>
          <ac:spMkLst>
            <pc:docMk/>
            <pc:sldMasterMk cId="0" sldId="2147483648"/>
            <ac:spMk id="3" creationId="{C96D9E7B-CE3F-61AE-A7B8-0EC24C985815}"/>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SPARK ALONE VS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the Databricks Lakehouse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3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How It Works Internally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4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Unity Catalog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5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Without Unity Catalog vs With Unity Catalog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6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MANAGED VS EXTERNAL Table in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7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Volumes IN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8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How Unity Catalog Volumes Fix These Problems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9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Lakehouse Federation in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10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Databricks SQL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11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Advantages &amp; Business Value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12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are Lakehouse Jobs in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13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Retail Sales Analytics Project -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14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Retail Sales Analytics - Data Flow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15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SPARK STREAMING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16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Spark Streaming Recap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17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AUTO LOADER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18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Auto Loader - Example &amp; Checkpointing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19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Schema Management in Auto Loader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20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COPY INTO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21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What is DLT (Delta Live Tables)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22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DLT - Operational Complexity &amp; Monitoring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23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Key Use Cases of DLT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24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When to Use DLT vs Traditional Jobs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25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Databricks Delta Live Tables (DLT)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26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3. View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27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Present the slide in this order:
1. Start with the definition exactly as shown on the slide.
2. Explain the key terms in simple language without changing the definition.
3. Use one practical Databricks example to connect the concept to a real project.
4. Close by stating why the concept matters and link it to the next topic.
How to write the prompt
Use this structure: Role + topic + audience + task + constraints + output format.
Example prompt: “Act as a Databricks trainer. Explain GitHub integration - databricks to a mixed audience of data engineers and analysts. Keep the definition exactly as provided, then explain each point in simple language, add one practical example, and finish with 2 key takeaways. Do not add or change technical definitions.”
[Sources]
- User-provided file: DATABRICKS#01+(1).pdf, page 28
[/Sources]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0A0E"/>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5D90A"/>
          </a:solidFill>
          <a:ln w="12700">
            <a:solidFill>
              <a:srgbClr val="F5D90A"/>
            </a:solidFill>
            <a:prstDash val="solid"/>
          </a:ln>
        </p:spPr>
      </p:sp>
      <p:sp>
        <p:nvSpPr>
          <p:cNvPr id="3" name="Text 1"/>
          <p:cNvSpPr/>
          <p:nvPr/>
        </p:nvSpPr>
        <p:spPr>
          <a:xfrm>
            <a:off x="502920" y="182880"/>
            <a:ext cx="11155680" cy="256032"/>
          </a:xfrm>
          <a:prstGeom prst="rect">
            <a:avLst/>
          </a:prstGeom>
          <a:noFill/>
          <a:ln/>
        </p:spPr>
        <p:txBody>
          <a:bodyPr wrap="square" lIns="0" tIns="0" rIns="0" bIns="0" rtlCol="0" anchor="ctr"/>
          <a:lstStyle/>
          <a:p>
            <a:pPr marL="0" indent="0" algn="ctr">
              <a:buNone/>
            </a:pPr>
            <a:r>
              <a:rPr lang="en-US" sz="1000" b="1" dirty="0">
                <a:solidFill>
                  <a:srgbClr val="F5D90A"/>
                </a:solidFill>
                <a:latin typeface="Aptos" pitchFamily="34" charset="0"/>
                <a:ea typeface="Aptos" pitchFamily="34" charset="-122"/>
                <a:cs typeface="Aptos" pitchFamily="34" charset="-120"/>
              </a:rPr>
              <a:t>DATABRICKS SERIES</a:t>
            </a:r>
            <a:endParaRPr lang="en-US" sz="1000" dirty="0"/>
          </a:p>
        </p:txBody>
      </p:sp>
      <p:sp>
        <p:nvSpPr>
          <p:cNvPr id="4" name="Shape 2"/>
          <p:cNvSpPr/>
          <p:nvPr/>
        </p:nvSpPr>
        <p:spPr>
          <a:xfrm>
            <a:off x="502920" y="6528816"/>
            <a:ext cx="11201400" cy="0"/>
          </a:xfrm>
          <a:prstGeom prst="line">
            <a:avLst/>
          </a:prstGeom>
          <a:noFill/>
          <a:ln w="8890">
            <a:solidFill>
              <a:srgbClr val="27303A"/>
            </a:solidFill>
            <a:prstDash val="solid"/>
          </a:ln>
        </p:spPr>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a:t>
            </a:fld>
            <a:endParaRPr lang="en-US"/>
          </a:p>
        </p:txBody>
      </p:sp>
      <p:sp>
        <p:nvSpPr>
          <p:cNvPr id="3" name="TextBox 2">
            <a:extLst>
              <a:ext uri="{FF2B5EF4-FFF2-40B4-BE49-F238E27FC236}">
                <a16:creationId xmlns:a16="http://schemas.microsoft.com/office/drawing/2014/main" id="{C96D9E7B-CE3F-61AE-A7B8-0EC24C985815}"/>
              </a:ext>
            </a:extLst>
          </p:cNvPr>
          <p:cNvSpPr txBox="1"/>
          <p:nvPr>
            <p:extLst>
              <p:ext uri="{1162E1C5-73C7-4A58-AE30-91384D911F3F}">
                <p184:classification xmlns:p184="http://schemas.microsoft.com/office/powerpoint/2018/4/main" val="ftr"/>
              </p:ext>
            </p:extLst>
          </p:nvPr>
        </p:nvSpPr>
        <p:spPr>
          <a:xfrm>
            <a:off x="63500" y="6672580"/>
            <a:ext cx="855663" cy="121920"/>
          </a:xfrm>
          <a:prstGeom prst="rect">
            <a:avLst/>
          </a:prstGeom>
        </p:spPr>
        <p:txBody>
          <a:bodyPr horzOverflow="overflow" lIns="0" tIns="0" rIns="0" bIns="0">
            <a:spAutoFit/>
          </a:bodyPr>
          <a:lstStyle/>
          <a:p>
            <a:pPr algn="l"/>
            <a:r>
              <a:rPr lang="en-US" sz="800">
                <a:solidFill>
                  <a:srgbClr val="317100">
                    <a:alpha val="50000"/>
                  </a:srgbClr>
                </a:solidFill>
                <a:latin typeface="Aptos" panose="020B00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DATABRICKS -</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Databricks is a unified analytics and data engineering platform that lets you process, and analyze all kinds of data in one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built on top of Apache Spark but adds many enterprise features, including: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Collaborative workspaces for data engineers, data scientists, and analysts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 for data lakes, data warehouses, and machine learning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Delta Lake technology for reliability, governance, and speed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What is Apache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Apache Spark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An open-source distributed computing engine for processing large datasets.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Very fast compared to older frameworks like Hadoop MapReduce.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Can run batch, streaming, SQL, ML, and graph workloads.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Requires you to manage clusters, storage, integrations, and scaling manually.</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Why Databricks is Different from Just Using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fast distributed processing, but you must manage clusters, storage, and integrations manually.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adds a friendly UI, auto-cluster management, collaborative notebooks, optimized connectors, governance tools, ML lifecycle support, and Delta Lake for reliable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like the difference between owning a powerful engine vs. a fully built sports car - same power, but one is ready to drive.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Setup &amp; Infrastructure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install, configure, and manage your own clusters (on-premise or cloud).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Fully managed - just click to create clusters, no manual setup.</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ALONE VS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2. Cluster Management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must manually scale up/down, monitor, and shut down clusters.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Auto-scaling clusters that start/stop based on workload to save cost.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Data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Reads/writes from external storage (S3, HDFS, Azure Blob), but no built-in transactional layer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Uses Delta Lake for ACID transactions, schema enforcement, and time travel.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4. Data Governance &amp; Security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handle permissions manually at the file system or storage level.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Unity Catalog provides centralized data access control, auditing, and compliance.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5. Collaboration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No built-in multi-user interface - sharing requires exporting scripts or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Collaborative notebooks where multiple users can work together.</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6. Workflow Automation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Requires external schedulers (Airflow, cron) for automation.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Built-in Jobs scheduler with monitoring, retry policies, and alerts.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7. Machine Learning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MLlib for basic ML, but no built-in experiment tracking or deployment tools.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MLflow integrated for ML lifecycle management (tracking, registry, deployment).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9. Optimization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manually tune configurations for performance.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Auto-optimizations (e.g., Photon engine for faster SQL, auto-tuning).</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10. Integrations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Spark Alone - You set up JDBC/ODBC drivers manually for BI tools.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 Native connectors to Power BI, Tableau, Looker, Snowflake, etc.</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the Databricks Lakehouse?</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The Lakehouse is Databricks' data architecture that combines the best parts of a Data Lake and a Data Warehouse in a single system.</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Lake strength - Store all kinds of data (structured, semi-structured, unstructured) cheaply in cloud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Warehouse strength - Provide fast queries, governance, and reliability.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Lakehouse merges these into one unified platform using Delta Lake (the secret sauce).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It Solves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Data Silos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Traditionally, companies needed a Data Lake for raw data + a Data Warehouse for analytics.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That meant two systems, constant ETL pipelines, and duplicate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 one platform, no silos.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Reliability Issues in Data Lakes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 data lakes (S3, ADLS, GCS) don't support: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ACID transactions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Schema enforcement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Version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caused corrupted tables and inconsistent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(via Delta Lake) adds ACID transactions + schema validation + time travel.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&amp;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warehouses are fast but very expensive and limited to structured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lakes are cheap &amp; scalable but slow and unreliable.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Lakehouse keeps data in cheap cloud storage (like a lake) but allows fast SQL queries (like a warehouse).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How It Works Internally</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Data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is stored in cloud object storage (S3, ADLS, GCS).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Stored in open formats (Parquet, JSON, Avro, ORC).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Delta Lake Layer (the magic)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Adds a transaction log (_delta_log folder) on top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Tracks every write/update/delete.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Ensures ACID transactions (no partial writes).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Provides schema enforcement + schema evolution.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Enables time travel (query old versions of data).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Query &amp; Compute Layer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Spark, SQL, Python, R, Scala, or Java to process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Optimized with Photon Engine (faster SQL queries).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Supports batch, streaming, ML, and BI workloads.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Governance &amp; Security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Unity Catalog manages data access, metadata, and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Fine-grained security across tables, columns, and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of Databricks Lakehouse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Unified Platform - No need for both a lake + warehouse, everything is in one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Open Data Format - Data stays in open formats (Parquet/Delta), avoiding vendor lock-in.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ACID Transactions - Reliable data like a database.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Time Travel - Query historical data versions.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Performance - Indexing, caching, and Photon engine make queries super fast.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Cost-Efficient - Store on cheap cloud storage but query like a warehouse.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Supports All Workloads - BI dashboards, ML training, real-time streaming, batch ETL.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Scalable &amp; Elastic - Auto-scales with cloud compute.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Unity Catalog?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Unity Catalog is Databricks' governance and data management layer for all data and AI assets.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Think of it as a centralized system for organizing, securing, auditing, and discovering data across all workspaces and cloud environments (Azure, AWS, GCP).</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It manages: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Tables (structured data, Delta tables)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Files (unstructured/semi-structured in data lake)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Machine learning models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Functions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Dashboards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In short: One catalog to govern everything (instead of every workspace managing its own metadata &amp; permissions separately).</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Without Unity Catalog vs With Unity Catalog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Without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Databricks Workspace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User Management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Metastore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Compute</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With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Unity Catalog</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User Management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Metastore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Databricks Workspace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Compute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MANAGED VS EXTERNAL Table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In Databricks, tables can be created in two ways: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Table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 Managed Table means Databricks manages both the metadata AND the underlying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is stored in Unity Catalog location (or workspace default storage if no UC).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Dropping the table also deletes the underlying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Characteristics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stored in default managed storage location: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UC: &lt;UC managed storage location&gt;/&lt;catalog&gt;/&lt;schema&gt;/&lt;table&gt;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Without UC: /user/hive/warehouse/&lt;table-name&gt;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controls lifecycle of data (create, drop).</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Easier for prototyping / temporary workloads.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 don't specify path while creating the table.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An External Table means Databricks manages only the metadata, but data lives in an external path that you specify.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Dropping the table removes only the metadata, NOT the underlying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Characteristics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 must specify a LOCATION (path in ADLS/S3/GCS).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 lifecycle is outside Databricks'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Good for shared datasets, compliance, or if you want to keep data even if the table is dropped.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Useful when multiple engines (Databricks, Synapse, Athena, Hive) need to access the same data.</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Volumes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A Volume in Unity Catalog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 logical container to store unstructured or semi-structured data, just like a folder in your data lake.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Governed and integrated into the 3-level namespace (catalog.schema.volume).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Works alongside tables (structured data) and functions/views (logical objects).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Supports both managed and external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Managed Volume - Databricks manages lifecycle; files deleted if volume is dropped.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External Volume - Files remain in external storage even if dropped from UC.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Analogy: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Table = Excel sheet (structured rows &amp; columns).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Volume = Folder with multiple file types (CSVs, PDFs, Images).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Enterprises Faced Before UC Volumes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1: Data Fragmentation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scattered across /raw, /staging, /prod folders.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 central catalog of 'where is what.'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2: Security Gaps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Access control based only on storage credentials (SAS keys, IAM roles).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If a user has a SAS key - they can read/write everything in that container.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Zero visibility into which user accessed which file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 3: Lack of Metadata &amp; Governance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Tables had schemas &amp; metadata.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 black holes: no lineage, no owner, no description.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 search functionality: analysts had to 'ask around' or manually browse.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How Unity Catalog Volumes Fix These Problems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Centralized Namespace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and tables live under the same structure: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catalog.schema.table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catalog.schema.volume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retail.sales.orders - structured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retail.sales.raw_files - volume holding unstructured CSV/JSON/XML.</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Fine-Grained Access Control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Permissions applied inside Databricks, not at storage account.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GRANT READ FILES ON VOLUME retail.sales.raw_files TO analyst_group;</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GRANT WRITE FILES ON VOLUME retail.sales.raw_files TO engineer_group;</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Metadata &amp; Governance for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Each volume has owner, description, tags,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Files inside volumes can be catalogued and discovered.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Unified Audit &amp; Lineage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UC logs file access - 'who read which file at what time.'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Helps with compliance (GDPR/CCPA).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of Volumes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Unified Governance - Files are now governed like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Data Discovery - Analysts can find CSV/Parquet directly from UC search.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Improved Security - No raw storage keys; RBAC at file level.</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Cross-Workspace Access - No duplication of data/permissions.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Compliance - File access is logged.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Supports Any File - CSV, JSON, parquet, ML model artifacts, PDFs, images, etc.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Lifecycle Management - Managed volumes auto-delete with UC cleanup.</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Lakehouse Federation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Lakehouse Federation = querying external data sources directly from Databricks SQL or notebooks without copying data into Delta tables.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Normally, in Databricks you ingest raw data into ADLS/S3/GCS, convert it to Delta tables, and then 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But sometimes, you already have data stored in external systems like: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Snowflake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PostgreSQL / MySQL / SQL Server / Oracle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BigQuery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AWS Redshift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SAP, etc.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duplicating or ETL'ing all this data into Databricks, you can federate - create a link to those systems and query them as if they were Databricks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So your Lakehouse can act as a single pane of glass across multiple systems.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Advantages / Why do we need this?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Avoids Data Duplication - No need to ETL or replicate data from multiple warehouses/databases - directly query in place.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Central Governance (Unity Catalog) - Even external data respects Databricks security, RBAC, auditing. This is huge for enterprises.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Cross-System Analytics - You can join Delta tables with Snowflake/Postgres tables in a single SQL query.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Faster Prototyping - Analysts don't wait for pipelines; they can query existing DBs instantly.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Cost Optimization - You don't need to pay for storage + compute in two systems by duplicating data.</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What problems does it solve?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Before federation: You had to write ETL pipelines; data became stale; governance was split; queries across systems were hard.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Now with Federation: No extra pipelines. Near real-time access to external data. Single governance layer (Unity Catalog policies apply even to external data).</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Databricks SQL?</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350" dirty="0">
                <a:solidFill>
                  <a:srgbClr val="F4F7FA"/>
                </a:solidFill>
                <a:latin typeface="Aptos" pitchFamily="34" charset="0"/>
                <a:ea typeface="Aptos" pitchFamily="34" charset="-122"/>
                <a:cs typeface="Aptos" pitchFamily="34" charset="-120"/>
              </a:rPr>
              <a:t>Databricks SQL (DBSQL) is a SQL-first workspace inside Databricks.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It is built for business analysts, BI users, and decision-makers to query data, build dashboards, and connect BI tools (like Power BI, Tableau) - without needing notebooks, Python, or Spark skills.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It runs on SQL Warehouses, which are special compute clusters optimized for fast, concurrent, low-latency SQL queries.</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Why do we need DBSQL when we already had Notebooks + Spark SQL?</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Notebooks + Spark SQL were designed for data engineers/scientists - good for heavy ETL, ML, or complex pipelines.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But they are not friendly for analysts/business users who just want to write SQL or use dashboards.</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Problems with only using notebooks: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Hard for non-technical users (need to know Python/Scala, cluster configs).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Not great for BI dashboards (Spark clusters are slow for many small, frequent queries).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High cost (clusters may stay running, even if idle).</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No built-in dashboards or alerts.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Limited concurrency (a few notebook queries at once vs 100s of BI users).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So, notebooks are great for creating data but bad for consuming data at scale.</a:t>
            </a:r>
            <a:endParaRPr lang="en-US" sz="1350" dirty="0"/>
          </a:p>
          <a:p>
            <a:pPr marL="0" indent="0">
              <a:buNone/>
            </a:pP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What problems DBSQL solves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Performance issue - Dashboards refresh fast with Photon engine + caching.</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Concurrency issue - 100s of users can query at the same time reliably.</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Cost issue - SQL Warehouses auto-scale &amp; auto-pause, no wasted clusters.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Usability issue - Analysts get a simple SQL interface, not complex notebooks.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Governance issue - With Unity Catalog, all queries follow the same security rules (row/column masking, lineage, audit).</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Tool integration issue - Easy to connect with BI tools (Power BI, Tableau, Looker) via SQL endpoints.</a:t>
            </a:r>
            <a:endParaRPr lang="en-US" sz="1350" dirty="0"/>
          </a:p>
          <a:p>
            <a:pPr marL="0" indent="0">
              <a:buNone/>
            </a:pPr>
            <a:r>
              <a:rPr lang="en-US" sz="1350" dirty="0">
                <a:solidFill>
                  <a:srgbClr val="F4F7FA"/>
                </a:solidFill>
                <a:latin typeface="Aptos" pitchFamily="34" charset="0"/>
                <a:ea typeface="Aptos" pitchFamily="34" charset="-122"/>
                <a:cs typeface="Aptos" pitchFamily="34" charset="-120"/>
              </a:rPr>
              <a:t>• Dashboarding issue - DBSQL has built-in dashboards &amp; alerts, no extra tool required.</a:t>
            </a:r>
            <a:endParaRPr lang="en-US" sz="135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Advantages &amp; Business Value</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For Analysts/Users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Simple - Just write SQL, no Python needed.</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Faster dashboards and queries.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Built-in dashboards, alerts, query history.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Can self-serve without depending on engineers.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For Business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One source of truth - Everyone queries the same Delta data, no copies.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Lower cost - No need for a separate data warehouse like Snowflake/Redshift.</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Governance - Security and compliance built-in (important for finance, healthcare, etc.).</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Faster decision making - Executives see live dashboards, not stale reports.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Unified platform - Data engineers, data scientists, and business users all work on the same Lakehouse.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are Lakehouse Jobs in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In Databricks, a Job = a way to automate a task (like running a notebook, SQL query, pipeline, or workflow) on a schedule or trigger.</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Lakehouse Jobs simply means running and scheduling tasks (jobs) inside the Databricks Lakehouse.</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Instead of you manually opening a notebook and clicking 'Run', a Job does it automatically, at scale, with monitoring and retry features.</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Retail Sales Analytics Project -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Medallion Architecture in Databricks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Business 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 mid-size retail company is struggling to consolidate and analyze its sales transactions that are spread across different sources and formats.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The business wants a unified analytics solution to:</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clean messy data (inconsistent formats, missing values, duplicates),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build a single source of truth for sales, customers, and products,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monitor KPIs such as revenue, return rate, repeat customers, average order value,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enable business teams to explore insights across product, category, customer, and time dimensions,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and use dashboards for data-driven decisions (e.g., inventory, pricing, promotions).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Solution - Medallion architecture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Bronze Layer: Ingest messy CSV/Parquet files manually (as simulated in Databricks free edition).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Silver Layer: Clean and standardize data (fix dates, remove $ from prices, normalize product names, handle missing/negative quantities, remove duplicates).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Gold Layer: Create one rich aggregate Delta table with grouped metrics across product, customer, category, and time (year, month, date).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KPIs Derived: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Total Revenue, Total Orders, Total Items Sold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Average Order Value (AOV), Average Price per Item</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Repeat Customer Rate, Purchase Frequency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Return Rate (by count &amp; value)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Monthly Sales Trends &amp; MoM Growth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Top Products by Revenue and Quantity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Customer Lifetime Value (CLV) approximation</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Dashboard: Build a Databricks SQL Dashboard showing trends, category performance, top products, and customer insights.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Retail Sales Analytics - Data Flow</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Retail → Sales, Product, Customer</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Retail → CSV / JSON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Unified Dataset → Clean → Dashboard</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STREAMING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Spark Streaming is an extension of Apache Spark that allows you to process live data streams in near real-time.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 uses micro-batching or continuous processing: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processes them quickly (like every 1 sec, 10 sec,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sources: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Kafka (real-time events)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Cloud storage (new files arriving)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IoT sensors, logs, clickstream,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Batch processing - process data in discrete jobs on a snapshot of data (daily, hourly, ad-hoc). Good when slight delay is fine and you need to process large historical volumes.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Structured Streaming - continuous processing of incoming events with low latency (micro-batches or continuous execution). Good when you must react quickly to events.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It's used in real-world scenarios like: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Product recommendation - recommend items as users browse (e.g., 'Customers also bought ...')</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Fraud detection - flag suspicious payments, logins, or account takeovers in seconds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Anomaly detection - detect unusual sensor readings, system failures, or traffic spikes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Spark Streaming Recap</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In Spark Structured Streaming, you need a source (Kafka, files, socket, etc.) that produces data continuously.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Spark then processes it in micro-batches or continuous mode, and writes to a sink (Delta, DB, console,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df = spark.readStream.format('json').load('/mnt/raw/events')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Here, Spark will keep checking the folder for new files.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Problem:</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It doesn't scale well if you have millions of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Duplicate/reprocessing issues.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Schema changes break the pipeline.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Where Auto Loader Comes In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is Databricks' optimized source for Spark Streaming when the data comes from cloud storage.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Think of Auto Loader as a specialized streaming source in Spark that: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Continuously monitors a directory in ADLS/S3/GCS.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Ingests only new files (incremental).</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Keeps track with checkpoints (so it knows what's already processed).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Handles schema inference &amp; evolution automatically.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Scales to billions of files (normal file streaming struggles with this).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AUTO LOADER</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Auto Loader is a feature in Databricks that makes it super easy to ingest (load) new data files automatically from cloud storage (like Azure Data Lake, AWS S3, or GCP Storage) into Delta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built on top of Spark Structured Streaming.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you manually telling Spark where new files are, Auto Loader will continuously watch a folder for new data and process it incrementally (only new files).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Why do we need Auto Loader?</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Normally in Spark Streaming: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You'd have to write custom logic to detect new files, avoid reprocessing old ones, and handle schema changes.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is painful and error-prone.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solves this: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Incremental processing - Only picks up new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Schema evolution - Can handle when new columns appear in the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 Can process billions of files efficiently.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4. Checkpointing - Keeps track of what's already processed.</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Auto Loader works (in Spark Streaming terms):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runs as a streaming source in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listens to a directory in cloud storage.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Whenever a new file lands, Spark Streaming picks it up and processes it in micro-batches or continuous mode.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then writes data into Delta Lake (Bronze → Silver → Gold) layers.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Auto Loader - Example &amp; Checkpointing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Example (Real-time)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Suppose you run an E-commerce website and store all user transactions (JSON files) in Azure Data Lake.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You'd need to manually rerun jobs, handle duplicates, etc.</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As soon as a new transaction file lands in the folder,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Detects the file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Reads it into a Spark Streaming DataFrame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Cleans/transforms it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Saves it into Delta Table in near real-time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This helps in real-time dashboards for: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Fraud detection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Live sales monitoring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Recommendation engines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1. Checkpointing in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 Spark Structured Streaming, a checkpoint is where Spark saves information about: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What files it has already read.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The progress of the stream (so it doesn't reprocess old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The state of the query.</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Why it matters in Auto Loader?</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checkpointing, Spark would re-read all files every time you restart the stream.</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checkpointing, Auto Loader knows exactly where it left off.</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Schema Management in Auto Loader</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Data schema can evolve over time (new columns added, column types changed, etc.). Normally, this breaks ingestion jobs.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has two modes for schema handling:</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 Schema Inference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 Loader automatically detects schema from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Stores schema in a schema location path (metastore).</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Next time new data comes, it compares with the saved schema.</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 Schema Evolution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If a new column appears, Auto Loader can automatically add it.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This prevents ingestion failure when data changes.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 Real Scenario</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Imagine your e-commerce site logs transactions like this: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Day 1 file (JSON):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{'txn_id': 101, 'customer_id': 1, 'amount': 500}</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Day 5 file (new schema):</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{'txn_id': 102, 'customer_id': 2, 'amount': 700, 'payment_method': 'UPI'}</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Without schema evolution → Job fails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With Auto Loader schema evolution → The new column payment method gets added automatically</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COPY INTO?</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COPY INTO is a Databricks SQL command used to load data from files (CSV, JSON, Parquet, etc.) stored in cloud storage (S3, ADLS, GCS) into a Delta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It's idempotent - already loaded files are skipped automatically, so you won't insert duplicates accidentally.</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Key differences at a glance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Mode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Batch (you run it on a schedule or ad-hoc).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Streaming or triggered micro-batches; continuously processes arrivals.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Scale &amp;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Good for thousands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Built for millions+; fewer listing ops, cheaper &amp; more efficient at scale.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Schema handling</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COPY INTO: Can infer input schema and evolve target with mergeSchema. Works even with schemaless target tables.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 Loader: Automatic schema inference &amp; evolution, plus rescued data for unexpected columns/types.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to use which</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Choose COPY INTO if:</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have one-off or scheduled batch loads.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Volume is modest (up to thousands of files).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want pure SQL simplicity (no streaming job to manage).</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Choose Auto Loader if:</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Files arrive continuously and you need near-real-time ingestion.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expect millions+ files over time and want lower listing cost.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You want built-in schema drift handling and pipeline resilience at scale.</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What is DLT (Delta Live Tables)?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Delta Live Tables (DLT) is a framework for building reliable ETL/ELT pipelines on Databricks using SQL or PySpark.</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is declarative, meaning instead of writing step-by-step jobs (imperative), you just declare what data you want and how it should be transformed.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Databricks handles the orchestration, dependency management, monitoring, and error recovery for you.</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Think of it like a modernized version of ETL pipelines that is: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Auto-managed (no need to manually schedule and monitor complex workflows)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Data quality aware (can enforce expectations and rules on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Optimized for Delta Lake (storage format that gives ACID transactions, time travel, schema enforcement, etc.)</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Problems DLT Solves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Complex Pipeline Orchestration</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Traditional ETL = manually chaining notebooks/jobs, with dependencies (bronze → silver → gold).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DLT automatically manages dependencies between tables. If table A depends on B, Databricks ensures B is built first.</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Data Quality Issues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Pipelines often break due to bad or missing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DLT lets you define data quality rules ('expectations') like: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EXPECT col_x &gt; 0 ON VIOLATION DROP ROW;</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This prevents corrupt records from flowing downstream.</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3. Scalability &amp; Performance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Instead of managing scaling, caching, and optimizations manually, DLT uses: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Auto-scaling clusters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Photon engine for speed</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Delta Lake optimizations (Z-Ordering, caching, schema evolution)</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DLT - Operational Complexity &amp; Monitoring</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4. Operational Complexity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Usually, ETL teams build lots of jobs for ingestion, cleaning, transformations, and aggregates.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reduces this by: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Defining tables once in SQL/PySpark</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Automatically keeping them up-to-date (batch or streaming)</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5. Observability &amp; Monitoring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Hard to monitor failures in classic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comes with a visual DAG and lineage tracking - you can see how data flows from raw to gold tables.</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Advantages of DLT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Declarative Approach → Write less orchestration logic, focus on transformations.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Unified Batch &amp; Streaming → One code works for both real-time (Kafka, Auto Loader) &amp; batch ingestion.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Data Quality Rules → Enforce schema, filter out bad records, maintain trustworthy data.</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Lineage &amp; Monitoring → Visual DAG, job history, data freshness tracking.</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Auto Management → Scaling, retries, incremental processing handled automatically.</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 Integration with Medallion Architecture → Perfect for Bronze → Silver → Gold layer design.</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Key Use Cases of DLT</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700" dirty="0">
                <a:solidFill>
                  <a:srgbClr val="F4F7FA"/>
                </a:solidFill>
                <a:latin typeface="Aptos" pitchFamily="34" charset="0"/>
                <a:ea typeface="Aptos" pitchFamily="34" charset="-122"/>
                <a:cs typeface="Aptos" pitchFamily="34" charset="-120"/>
              </a:rPr>
              <a:t>1. Medallion Architecture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Ingest raw data into Bronze (e.g., JSON from Kafka/S3).</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Clean/transform into Silver (filtering nulls, joins, normalization).</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Aggregate into Gold (reporting, ML features, BI dashboards).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DLT makes these seamless with dependency management.</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2. Streaming + Batch Unified</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Say you have Kafka streaming transactions + daily batch files.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Instead of two separate pipelines, DLT handles both with one code.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3. Data Quality Enforcement</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Finance/Healthcare industries → cannot risk bad records.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Example: Transactions with negative amounts automatically filtered before Silver layer.</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4. Simplify ETL for Data Analysts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Analysts who know only SQL can define DLT tables using CREATE LIVE TABLE without Spark/Scala knowledge.</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5. Self-Healing Pipelines</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If upstream data changes or jobs fail, DLT can auto-recover and continue from the last checkpoint.</a:t>
            </a:r>
            <a:endParaRPr lang="en-US" sz="1700" dirty="0"/>
          </a:p>
          <a:p>
            <a:pPr marL="0" indent="0">
              <a:buNone/>
            </a:pP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6. Feature Engineering for ML</a:t>
            </a:r>
            <a:endParaRPr lang="en-US" sz="1700" dirty="0"/>
          </a:p>
          <a:p>
            <a:pPr marL="0" indent="0">
              <a:buNone/>
            </a:pPr>
            <a:r>
              <a:rPr lang="en-US" sz="1700" dirty="0">
                <a:solidFill>
                  <a:srgbClr val="F4F7FA"/>
                </a:solidFill>
                <a:latin typeface="Aptos" pitchFamily="34" charset="0"/>
                <a:ea typeface="Aptos" pitchFamily="34" charset="-122"/>
                <a:cs typeface="Aptos" pitchFamily="34" charset="-120"/>
              </a:rPr>
              <a:t>Build curated Gold tables with time windowed aggregates and keep them always fresh for ML models.</a:t>
            </a:r>
            <a:endParaRPr lang="en-US" sz="17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When to Use DLT vs Traditional Jobs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Use DLT when: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declarative, auto-managed, lineage-aware pipelines.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care about data quality rules &amp; reliability.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You're building streaming + batch unified pipelines.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Medallion architecture with fewer moving parts.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Use classic notebooks/jobs when: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need very custom ETL logic.</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You're working with non-Delta formats.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 You want one-off data processing (not continuous pipelines).</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Databricks Delta Live Tables (DLT)</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1500" dirty="0">
                <a:solidFill>
                  <a:srgbClr val="F4F7FA"/>
                </a:solidFill>
                <a:latin typeface="Aptos" pitchFamily="34" charset="0"/>
                <a:ea typeface="Aptos" pitchFamily="34" charset="-122"/>
                <a:cs typeface="Aptos" pitchFamily="34" charset="-120"/>
              </a:rPr>
              <a:t>In Databricks Delta Live Tables (DLT) you'll see Streaming Tables, Materialized Views, and Views.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1. Streaming Table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 A table that processes incremental (streaming) data and maintains a live, continuously updated state.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it works: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Built on Structured Streaming in Spark.</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Reads new records as they arrive from a source (Kafka, files via Auto Loader, Kinesis, etc.).</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Applies your transformations (filters, joins, aggregations).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Updates the target table incrementally.</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your source data is real-time or append-only (new events, transactions, logs).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 Processing clickstream logs, IoT sensor data, financial transactions.</a:t>
            </a:r>
            <a:endParaRPr lang="en-US" sz="1500" dirty="0"/>
          </a:p>
          <a:p>
            <a:pPr marL="0" indent="0">
              <a:buNone/>
            </a:pP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2. Materialized View</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Definition: A batch or incremental physical table that stores results of transformations.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It is automatically managed (incremental refresh, schema evolution, quality enforcement).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How it works: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Stores the output physically in Delta format.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Optimized for incremental computation: it recomputes only the changes from the source, not the full dataset.</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 Provides durability and performance (fast reads for BI tools, aggregations).</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Use case:</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you want curated Silver/Gold tables (cleaned and aggregated data).</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When data will be queried frequently (Synapse, Power BI, Tableau).</a:t>
            </a:r>
            <a:endParaRPr lang="en-US" sz="1500" dirty="0"/>
          </a:p>
          <a:p>
            <a:pPr marL="0" indent="0">
              <a:buNone/>
            </a:pPr>
            <a:r>
              <a:rPr lang="en-US" sz="1500" dirty="0">
                <a:solidFill>
                  <a:srgbClr val="F4F7FA"/>
                </a:solidFill>
                <a:latin typeface="Aptos" pitchFamily="34" charset="0"/>
                <a:ea typeface="Aptos" pitchFamily="34" charset="-122"/>
                <a:cs typeface="Aptos" pitchFamily="34" charset="-120"/>
              </a:rPr>
              <a:t>Example: Aggregating daily sales by region from streaming orders.</a:t>
            </a:r>
            <a:endParaRPr lang="en-US" sz="15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3. View</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Definition: A logical view (not materialized) of data in the pipeline.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It only exists inside the pipeline for intermediate transformations.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How it works: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 stored on disk.</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Acts like a SQL view in a database: just a query definition.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Good for reusability inside pipelines.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Use case: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For intermediate logic where materialization is unnecessary.</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Keeps pipeline simpler without creating unnecessary storage.</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Example: Parsing JSON or normalizing columns before writing to a materialized table.</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1" cy="1"/>
          <a:chOff x="0" y="0"/>
          <a:chExt cx="1" cy="1"/>
        </a:xfrm>
      </p:grpSpPr>
      <p:sp>
        <p:nvSpPr>
          <p:cNvPr id="2" name="Text 0"/>
          <p:cNvSpPr/>
          <p:nvPr/>
        </p:nvSpPr>
        <p:spPr>
          <a:xfrm>
            <a:off x="640080" y="576072"/>
            <a:ext cx="10927080" cy="420624"/>
          </a:xfrm>
          <a:prstGeom prst="rect">
            <a:avLst/>
          </a:prstGeom>
          <a:noFill/>
          <a:ln/>
        </p:spPr>
        <p:txBody>
          <a:bodyPr wrap="square" lIns="0" tIns="0" rIns="0" bIns="0" rtlCol="0" anchor="ctr"/>
          <a:lstStyle/>
          <a:p>
            <a:pPr marL="0" indent="0">
              <a:buNone/>
            </a:pPr>
            <a:r>
              <a:rPr lang="en-US" sz="2500" b="1" dirty="0">
                <a:solidFill>
                  <a:srgbClr val="F5D90A"/>
                </a:solidFill>
                <a:latin typeface="Aptos Display" pitchFamily="34" charset="0"/>
                <a:ea typeface="Aptos Display" pitchFamily="34" charset="-122"/>
                <a:cs typeface="Aptos Display" pitchFamily="34" charset="-120"/>
              </a:rPr>
              <a:t>GitHub integration - databricks</a:t>
            </a:r>
            <a:endParaRPr lang="en-US" sz="2500" dirty="0"/>
          </a:p>
        </p:txBody>
      </p:sp>
      <p:sp>
        <p:nvSpPr>
          <p:cNvPr id="3" name="Shape 1"/>
          <p:cNvSpPr/>
          <p:nvPr/>
        </p:nvSpPr>
        <p:spPr>
          <a:xfrm>
            <a:off x="640080" y="1069848"/>
            <a:ext cx="960120" cy="1"/>
          </a:xfrm>
          <a:prstGeom prst="line">
            <a:avLst/>
          </a:prstGeom>
          <a:noFill/>
          <a:ln w="29210">
            <a:solidFill>
              <a:srgbClr val="F5D90A"/>
            </a:solidFill>
            <a:prstDash val="solid"/>
          </a:ln>
        </p:spPr>
      </p:sp>
      <p:sp>
        <p:nvSpPr>
          <p:cNvPr id="4" name="Text 2"/>
          <p:cNvSpPr/>
          <p:nvPr/>
        </p:nvSpPr>
        <p:spPr>
          <a:xfrm>
            <a:off x="685800" y="1261872"/>
            <a:ext cx="10744200" cy="5074920"/>
          </a:xfrm>
          <a:prstGeom prst="rect">
            <a:avLst/>
          </a:prstGeom>
          <a:noFill/>
          <a:ln/>
        </p:spPr>
        <p:txBody>
          <a:bodyPr wrap="square" lIns="508" tIns="508" rIns="508" bIns="508" rtlCol="0" anchor="t">
            <a:normAutofit/>
          </a:bodyPr>
          <a:lstStyle/>
          <a:p>
            <a:pPr marL="0" indent="0">
              <a:buNone/>
            </a:pPr>
            <a:r>
              <a:rPr lang="en-US" sz="2000" dirty="0">
                <a:solidFill>
                  <a:srgbClr val="F4F7FA"/>
                </a:solidFill>
                <a:latin typeface="Aptos" pitchFamily="34" charset="0"/>
                <a:ea typeface="Aptos" pitchFamily="34" charset="-122"/>
                <a:cs typeface="Aptos" pitchFamily="34" charset="-120"/>
              </a:rPr>
              <a:t>GitHub + Databricks</a:t>
            </a:r>
            <a:endParaRPr lang="en-US" sz="2000" dirty="0"/>
          </a:p>
          <a:p>
            <a:pPr marL="0" indent="0">
              <a:buNone/>
            </a:pP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main</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Codes</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Note 1</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Note 2</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Central repo</a:t>
            </a:r>
            <a:endParaRPr lang="en-US" sz="2000" dirty="0"/>
          </a:p>
          <a:p>
            <a:pPr marL="0" indent="0">
              <a:buNone/>
            </a:pPr>
            <a:r>
              <a:rPr lang="en-US" sz="2000" dirty="0">
                <a:solidFill>
                  <a:srgbClr val="F4F7FA"/>
                </a:solidFill>
                <a:latin typeface="Aptos" pitchFamily="34" charset="0"/>
                <a:ea typeface="Aptos" pitchFamily="34" charset="-122"/>
                <a:cs typeface="Aptos" pitchFamily="34" charset="-120"/>
              </a:rPr>
              <a:t>GitHub</a:t>
            </a:r>
            <a:endParaRPr lang="en-US" sz="200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B949E"/>
                </a:solidFill>
              </a:defRPr>
            </a:lvl1pPr>
          </a:lstStyle>
          <a:p>
            <a:pPr algn="l"/>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7f6b194-73f8-48d3-95d2-0d2530a9bb45}" enabled="1" method="Standard" siteId="{0483ae51-a627-466e-a7dd-de2ac7e1238e}" contentBits="2"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28</Slides>
  <Notes>28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Series</dc:title>
  <dc:subject>Databricks training deck</dc:subject>
  <dc:creator>Rajeev Kumar Gupta</dc:creator>
  <cp:lastModifiedBy>Rajeev Kumar Gupta</cp:lastModifiedBy>
  <cp:revision>3</cp:revision>
  <dcterms:created xsi:type="dcterms:W3CDTF">2026-10-21T17:15:04Z</dcterms:created>
  <dcterms:modified xsi:type="dcterms:W3CDTF">2026-10-21T17:41:33Z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Internal</vt:lpwstr>
  </property>
</Properties>
</file>